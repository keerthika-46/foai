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sldIdLst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1E370-033F-4704-ADF4-9E4E4657C34F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FAF12-F55E-40BB-8A47-26B39511E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FAF12-F55E-40BB-8A47-26B39511E9C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415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A59A-BCBE-48E2-A350-FB035DDEC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F6DBD-B524-460B-AA44-E186583A4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4A3FC-54A1-489A-8276-92648A22A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A6A6-A7F2-4933-9075-6FF54A45A246}" type="datetime1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D5EB-B231-46BD-AC05-9475512F6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ACC44-0FA3-41D7-8827-56818F39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770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A280-D3AA-4359-82E8-23CF7F95F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0452E-B981-494B-AF11-EEEB6CB1B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6FC46-05C5-491A-98F5-67DFE9F1B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293B-E7C6-4EBD-97F1-D064646A23FC}" type="datetime1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C7F8E-CF1F-4BF8-9AB5-1D86268D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DCA77-D61D-46CC-A34B-A12DBAB35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060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4260-F786-41D5-AA19-25971DA5A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54B45-ABB3-43F6-A69A-330D3EEE3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FBA7F-C03D-42BA-860F-C0084E058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31AF-597A-4011-A47A-590DF41FF4CE}" type="datetime1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C5C7F-0F76-4539-A47B-34FE706B3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38696-8488-4503-B740-D2352312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257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B93C4-F8EF-4CB4-90F1-A6F2C2533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15783-F42E-4766-9BD6-9281265A4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DE48A-A630-45BF-BFE4-7FAE6E8FE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3FBA5-DF65-41CC-BAA5-E9D93CAD4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8AE2A-4198-4CFC-8A3D-99793047056B}" type="datetime1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48E5F-5552-416B-BC90-C62417A3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DDB7E-587A-4AA5-8A58-352BC20C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977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7CEE-8F3F-40F1-B22D-D53F1637F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AEE05-D573-4122-8E24-00B78F74B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22DC4-F974-49BF-B147-72208B764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E9CDB9-0076-4DF6-9690-182E5157A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93C982-67D7-427B-8C3D-1FF7CC53E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C65A0D-D7E5-4F76-A5DC-B3A473496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E98C-4750-4DE8-AE7D-913096F33BA4}" type="datetime1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4A474-160B-4E5B-B8C1-9A764A89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B52139-45CD-4883-962C-8B58CD26A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79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30830-F074-417B-B120-745038C2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C52E2-6C9D-4F48-9885-60AA29DE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4900D-B9D7-4B48-B03E-93C6BFA38FDB}" type="datetime1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F0182-AF02-46DC-A005-32A72DB49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9F1EB-8B71-439F-B1E9-6EA720C1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785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2A6E2-8CED-468E-B9C8-63EEF92A1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D085-2496-430D-A475-FB3919DB8C97}" type="datetime1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DDDBB6-47BF-4BE7-97E4-AB044897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0F90C-24D0-4C65-99B4-EADB86BE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110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5C33-D77F-42B7-969F-DE257926C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8D13-72C5-42CB-BDE1-8AA6B32DD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5EF6E-114D-425F-BB1A-C35164117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18FDF-36DE-48DA-886F-421C22036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6D8D-D6A6-4D95-BF85-9EF8F0710FA7}" type="datetime1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1A6E3-D660-40AD-AC51-1F8805A53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90E82-A75D-48B1-B3E6-FF48ADF8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919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577C-5B3A-48AD-9B45-4A9C9A23E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30F3EF-BF57-46A6-9EB6-2DA43D25D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5DFA0-E5C8-4DDF-B283-4A2DD170A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A8042-4719-4615-8878-7A26662F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3A52-04AE-48F7-9FCF-E17B2D2BA4E4}" type="datetime1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B10D6-FDCC-4E80-9116-42BC543C5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E45E7-2218-4691-9448-44DD3A1AA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596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F59C-24A2-4159-9380-F6AAEA13E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AC032-FA02-45A1-B799-75A08E888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9FC9-D5D3-4E4A-9286-9E96B814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1855-FF8B-4A8F-B974-476D0BEFE359}" type="datetime1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9B5AB-659C-41B0-9073-34826E629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DCFD4-462A-4C50-9A15-A34E5BAD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5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6CEE7-4472-4220-ABE7-624EBBAB35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CA2D1-1973-4733-9AC1-AA8B41575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8E509-CC9E-46C7-BCB4-B4C77706F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4AA9-A825-4631-9385-0F96794CA13F}" type="datetime1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ADC3E-64E9-4052-AAAA-0A77E649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93A4B-8F28-4558-9932-5AEBAE56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75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61322-C13F-4F32-A9C2-A66C573C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4B022-D55F-4115-A03E-92A7A8351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1FBDE-AF6F-4F87-97D2-A1D19B658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DD9C9-F760-491D-BEB2-C9719B2DAA72}" type="datetime1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5F895-F6B3-49E8-AE71-CA9D6A533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1C5C0-3DE6-438F-852E-4102D3E14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44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Home | Rajalakshmi Engineering College (REC)">
            <a:extLst>
              <a:ext uri="{FF2B5EF4-FFF2-40B4-BE49-F238E27FC236}">
                <a16:creationId xmlns:a16="http://schemas.microsoft.com/office/drawing/2014/main" id="{B5C75A04-8A80-4B12-82DD-FB4D79DA72B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305720" y="497541"/>
            <a:ext cx="3580560" cy="115596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>
            <a:extLst>
              <a:ext uri="{FF2B5EF4-FFF2-40B4-BE49-F238E27FC236}">
                <a16:creationId xmlns:a16="http://schemas.microsoft.com/office/drawing/2014/main" id="{06BEF5B7-F160-4818-BC4E-3751DDE221D5}"/>
              </a:ext>
            </a:extLst>
          </p:cNvPr>
          <p:cNvSpPr txBox="1">
            <a:spLocks/>
          </p:cNvSpPr>
          <p:nvPr/>
        </p:nvSpPr>
        <p:spPr>
          <a:xfrm>
            <a:off x="1488141" y="1653501"/>
            <a:ext cx="9601199" cy="393151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0" algn="l"/>
              </a:tabLst>
              <a:defRPr/>
            </a:pPr>
            <a:r>
              <a:rPr kumimoji="0" lang="en-US" sz="32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</a:t>
            </a:r>
            <a:r>
              <a:rPr kumimoji="0" lang="en-US" sz="40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Department of Cyber Security</a:t>
            </a:r>
            <a:endParaRPr kumimoji="0" lang="en-IN" sz="4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0" algn="l"/>
              </a:tabLst>
              <a:defRPr/>
            </a:pPr>
            <a:r>
              <a:rPr kumimoji="0" lang="en-US" sz="40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            2026-2027- Odd Semester</a:t>
            </a:r>
            <a:endParaRPr kumimoji="0" lang="en-IN" sz="4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0" algn="l"/>
              </a:tabLst>
              <a:defRPr/>
            </a:pPr>
            <a:r>
              <a:rPr kumimoji="0" lang="en-US" sz="40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                       III Year /V Sem</a:t>
            </a: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0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CS23533-FOUNDATIONS OF ARTIFICIAL INTELLIGENCE</a:t>
            </a:r>
            <a:endParaRPr kumimoji="0" lang="en-IN" sz="4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0" algn="l"/>
              </a:tabLst>
              <a:defRPr/>
            </a:pPr>
            <a:r>
              <a:rPr kumimoji="0" lang="en-US" sz="40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             Review 1– </a:t>
            </a:r>
            <a:r>
              <a:rPr lang="en-US" sz="4000" spc="-1" dirty="0">
                <a:solidFill>
                  <a:prstClr val="black"/>
                </a:solidFill>
                <a:latin typeface="Times New Roman"/>
              </a:rPr>
              <a:t>09</a:t>
            </a:r>
            <a:r>
              <a:rPr kumimoji="0" lang="en-US" sz="40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</a:t>
            </a:r>
            <a:r>
              <a:rPr lang="en-US" sz="4000" spc="-1" dirty="0">
                <a:solidFill>
                  <a:prstClr val="black"/>
                </a:solidFill>
                <a:latin typeface="Times New Roman"/>
              </a:rPr>
              <a:t>09</a:t>
            </a:r>
            <a:r>
              <a:rPr kumimoji="0" lang="en-US" sz="40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.2026</a:t>
            </a:r>
            <a:endParaRPr kumimoji="0" lang="en-IN" sz="4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D81229B-0330-4B71-AFEC-B3C206A7C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Rajalakshmi Engineering College,Department of Cyber Security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9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1012955"/>
            <a:ext cx="11445240" cy="5279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Emergency situations such as accidents, fires, medical emergencies, and crimes require quick and appropriate response.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the right emergency resource and reaching the incident location through an efficient route are important for reducing response delays.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emergency response systems may require manual decision-making for resource</a:t>
            </a:r>
            <a:r>
              <a:rPr lang="en-IN" sz="2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and route planning.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system uses Classical AI techniques to support emergency resource allocation and route planning.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knowledge-based rule system is used to select a suitable emergency resource based on the emergency type and location.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Search Algorithm</a:t>
            </a: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is used to calculate an efficient route between the selected resource and the emergency location.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the allocated resource, route information, distance, and route visualization through an interactive digital map.</a:t>
            </a:r>
          </a:p>
          <a:p>
            <a:pPr lvl="0" algn="just"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478" y="1182231"/>
            <a:ext cx="1078992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emergencies, delayed resource allocation and inefficient route selection can affect the response process.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a suitable emergency resource such as an ambulance, fire service, or police vehicle may require quick decision-making.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resource selection may not consistently consider the type and priority of the emergency.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Emergency vehicles need an efficient route from their current location to the emergency location.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approaches may not provide a single integrated platform for resource allocation and route planning.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system that can automatically select an appropriate emergency resource and calculate an efficient route using Classical AI techniques.</a:t>
            </a:r>
          </a:p>
          <a:p>
            <a:pPr>
              <a:spcAft>
                <a:spcPts val="1400"/>
              </a:spcAft>
              <a:defRPr sz="2200">
                <a:solidFill>
                  <a:srgbClr val="5F6973"/>
                </a:solidFill>
              </a:defRPr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78992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Selection: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Emergency response requires fast resource allocation and route planning.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applies Classical AI to a real-world emergency management problem.</a:t>
            </a:r>
          </a:p>
          <a:p>
            <a:pPr algn="just"/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/ Industry Motivation: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Emergency services need suitable resources to be identified quickly.</a:t>
            </a:r>
          </a:p>
          <a:p>
            <a:pPr lvl="0" algn="just"/>
            <a:r>
              <a:rPr lang="en-IN" sz="22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search</a:t>
            </a: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provides heuristic-based route planning over a road network.</a:t>
            </a:r>
          </a:p>
          <a:p>
            <a:pPr algn="just"/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Benefits: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systematic emergency resource selection.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route calculation and map-based route visualization.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Transparent and explainable AI-based decision making.</a:t>
            </a:r>
          </a:p>
          <a:p>
            <a:pPr algn="just"/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Significance: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 single platform for emergency type selection, resource allocation, and route planning.</a:t>
            </a:r>
          </a:p>
          <a:p>
            <a:pPr lvl="0" algn="just"/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serve as a prototype for ambulance, fire, and police emergency response systems.</a:t>
            </a:r>
          </a:p>
          <a:p>
            <a:pPr>
              <a:spcAft>
                <a:spcPts val="1400"/>
              </a:spcAft>
              <a:defRPr sz="2200">
                <a:solidFill>
                  <a:srgbClr val="5F6973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9761"/>
            <a:ext cx="10789920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emergency resource allocation system that intelligently assigns the most appropriate emergency resource based on the type, priority, and location of an emergency.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knowledge-based decision-making mechanism using predefined rules for selecting suitable emergency resources such as ambulances, fire trucks, and police vehicles.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utilize the A* search algorithm for identifying the shortest and most efficient route from the selected emergency resource to the incident location, thereby reducing response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consider resource availability and road conditions during the allocation process to ensure efficient and practical emergency response.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speed, accuracy, and consistency of emergency resource allocation compared to conventional manual allocation methods.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application of classical Artificial Intelligence techniques, including Intelligent Agents, Heuristic Search, and Knowledge-Based Reasoning, without relying on Machine Learning, Deep Learning, or Neural Networks.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5F6973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382280"/>
              </p:ext>
            </p:extLst>
          </p:nvPr>
        </p:nvGraphicFramePr>
        <p:xfrm>
          <a:off x="431882" y="1234440"/>
          <a:ext cx="11297756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b="1" dirty="0" err="1">
                          <a:solidFill>
                            <a:schemeClr val="bg1"/>
                          </a:solidFill>
                        </a:rPr>
                        <a:t>S.No</a:t>
                      </a:r>
                      <a:r>
                        <a:rPr b="1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b="1" dirty="0">
                          <a:solidFill>
                            <a:schemeClr val="bg1"/>
                          </a:solidFill>
                        </a:rPr>
                        <a:t>Author &amp; Year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b="1" dirty="0">
                          <a:solidFill>
                            <a:schemeClr val="bg1"/>
                          </a:solidFill>
                        </a:rPr>
                        <a:t>Method / Technique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b="1" dirty="0">
                          <a:solidFill>
                            <a:schemeClr val="bg1"/>
                          </a:solidFill>
                        </a:rPr>
                        <a:t>Key Findings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b="1" dirty="0">
                          <a:solidFill>
                            <a:schemeClr val="bg1"/>
                          </a:solidFill>
                        </a:rPr>
                        <a:t>Limitations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Nordin et al. (2012</a:t>
                      </a:r>
                      <a:r>
                        <a:rPr lang="en-IN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A* Search Algorithm</a:t>
                      </a:r>
                      <a:endParaRPr lang="en-IN" sz="1800" b="0" i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endParaRPr lang="en-IN" sz="1400" kern="1200">
                        <a:solidFill>
                          <a:srgbClr val="5F6973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400" kern="1200">
                          <a:solidFill>
                            <a:srgbClr val="5F6973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Developed an A*-based ambulance routing interface to find shortest-distance routes on a road network.</a:t>
                      </a:r>
                      <a:endParaRPr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endParaRPr lang="en-IN" sz="1400" kern="1200" dirty="0">
                        <a:solidFill>
                          <a:srgbClr val="5F6973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400" kern="1200" dirty="0">
                          <a:solidFill>
                            <a:srgbClr val="5F6973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Mainly considers a static road network; real-time traffic and dynamically changing road conditions are not addressed.</a:t>
                      </a:r>
                      <a:endParaRPr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endParaRPr lang="en-IN" sz="18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800" b="1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sz="1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Mukhopadhyay et al. (2022)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endParaRPr lang="en-IN" sz="1200" kern="1200" dirty="0">
                        <a:solidFill>
                          <a:srgbClr val="5F697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endParaRPr lang="en-IN" sz="1200" kern="1200" dirty="0">
                        <a:solidFill>
                          <a:srgbClr val="5F697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800" kern="1200" dirty="0">
                          <a:solidFill>
                            <a:srgbClr val="5F6973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Resource Allocation &amp; Computer-Aided Dispatch</a:t>
                      </a:r>
                      <a:endParaRPr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endParaRPr lang="en-IN" sz="1400" kern="1200" dirty="0">
                        <a:solidFill>
                          <a:srgbClr val="5F6973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400" kern="1200" dirty="0">
                          <a:solidFill>
                            <a:srgbClr val="5F6973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Reviewed incident prediction, detection, resource allocation and computer-aided dispatch approaches for emergency response management.</a:t>
                      </a:r>
                      <a:endParaRPr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endParaRPr lang="en-IN" sz="1400" kern="1200" dirty="0">
                        <a:solidFill>
                          <a:srgbClr val="5F6973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400" kern="1200" dirty="0">
                          <a:solidFill>
                            <a:srgbClr val="5F6973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 is a </a:t>
                      </a:r>
                      <a:r>
                        <a:rPr lang="en-IN" sz="1400" b="1" kern="1200" dirty="0">
                          <a:solidFill>
                            <a:srgbClr val="5F6973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survey/review</a:t>
                      </a:r>
                      <a:r>
                        <a:rPr lang="en-IN" sz="1400" kern="1200" dirty="0">
                          <a:solidFill>
                            <a:srgbClr val="5F6973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so it does not provide one single integrated implementation for real-time emergency resource allocation and routing</a:t>
                      </a:r>
                      <a:endParaRPr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endParaRPr lang="en-IN" sz="1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endParaRPr lang="en-I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800" kern="1200" dirty="0">
                          <a:solidFill>
                            <a:srgbClr val="5F6973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Pettet et al. (2022)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endParaRPr lang="en-IN" sz="1200" kern="1200" dirty="0">
                        <a:solidFill>
                          <a:srgbClr val="5F697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endParaRPr lang="en-IN" sz="1200" kern="1200" dirty="0">
                        <a:solidFill>
                          <a:srgbClr val="5F697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800" kern="1200" dirty="0">
                          <a:solidFill>
                            <a:srgbClr val="5F6973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Decision Support System</a:t>
                      </a:r>
                      <a:endParaRPr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endParaRPr lang="en-IN" sz="1400" kern="1200" dirty="0">
                        <a:solidFill>
                          <a:srgbClr val="5F6973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400" kern="1200" dirty="0">
                          <a:solidFill>
                            <a:srgbClr val="5F6973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Proposed an emergency-response management framework involving incident detection, forecasting, strategic resource allocation and dispatch decisions</a:t>
                      </a:r>
                      <a:endParaRPr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endParaRPr lang="en-IN" sz="1400" kern="1200" dirty="0">
                        <a:solidFill>
                          <a:srgbClr val="5F6973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defRPr sz="1200">
                          <a:solidFill>
                            <a:srgbClr val="5F6973"/>
                          </a:solidFill>
                        </a:defRPr>
                      </a:pPr>
                      <a:r>
                        <a:rPr lang="en-IN" sz="1400" kern="1200" dirty="0">
                          <a:solidFill>
                            <a:srgbClr val="5F6973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Covers a broad emergency-response pipeline; implementing all components together requires substantial data and system integration</a:t>
                      </a:r>
                      <a:endParaRPr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463" y="740526"/>
            <a:ext cx="643029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 / technique:</a:t>
            </a:r>
            <a:endParaRPr lang="en-IN" sz="2200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/ conventional emergency resource allocation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Computer-Aided Dispatch (CAD) for emergency response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Shortest-path routing using A* Search Algorithm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Systems for emergency management</a:t>
            </a:r>
          </a:p>
          <a:p>
            <a:pPr algn="just"/>
            <a:r>
              <a:rPr lang="en-IN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technologies or algorithms:</a:t>
            </a:r>
            <a:endParaRPr lang="en-IN" sz="2200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 Algorithm 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shortest-path route calculation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Computer-Aided Dispatch (CAD) 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emergency resource dispatch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 Models 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assigning appropriate emergency resources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Systems (DSS) 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supporting emergency response decisions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OpenStreetMap-based road network 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geographical road data</a:t>
            </a:r>
          </a:p>
          <a:p>
            <a:r>
              <a:rPr lang="en-IN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br>
              <a:rPr lang="en-IN" dirty="0"/>
            </a:b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Shorter Route | Faster Dispatch | Systematic Allocation | Decision Support</a:t>
            </a:r>
          </a:p>
          <a:p>
            <a:r>
              <a:rPr lang="en-IN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br>
              <a:rPr lang="en-IN" dirty="0"/>
            </a:b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Data | Limited Real-Time Updates | Separate Systems | Data Dependency</a:t>
            </a:r>
          </a:p>
          <a:p>
            <a:pPr>
              <a:spcAft>
                <a:spcPts val="1400"/>
              </a:spcAft>
              <a:defRPr sz="2000">
                <a:solidFill>
                  <a:srgbClr val="5F6973"/>
                </a:solidFill>
              </a:defRPr>
            </a:pP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079226" y="1453208"/>
            <a:ext cx="4167894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t>[Existing System Diagram / Screenshot]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7B9C73-F1CF-787F-B7D5-08BE3D2E1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748" y="1032388"/>
            <a:ext cx="4994788" cy="52039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83538"/>
            <a:ext cx="530352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emergency resource allocation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A* shortest-path routing</a:t>
            </a:r>
          </a:p>
          <a:p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/ innovations: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resource selection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Location-based emergency routing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map visualization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route display</a:t>
            </a:r>
          </a:p>
          <a:p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improves the existing system: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allocation and routing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processing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faster route planning</a:t>
            </a:r>
          </a:p>
          <a:p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outcome:</a:t>
            </a:r>
          </a:p>
          <a:p>
            <a:pPr marL="342900" lvl="0" indent="-342900">
              <a:buFont typeface="+mj-lt"/>
              <a:buAutoNum type="arabicParenR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emergency response </a:t>
            </a:r>
          </a:p>
          <a:p>
            <a:pPr marL="342900" lvl="0" indent="-342900">
              <a:buFont typeface="+mj-lt"/>
              <a:buAutoNum type="arabicParenR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resource utilization </a:t>
            </a:r>
          </a:p>
          <a:p>
            <a:pPr marL="342900" lvl="0" indent="-342900">
              <a:buFont typeface="+mj-lt"/>
              <a:buAutoNum type="arabicParenR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route guidance</a:t>
            </a:r>
          </a:p>
          <a:p>
            <a:pPr>
              <a:spcAft>
                <a:spcPts val="1400"/>
              </a:spcAft>
              <a:defRPr sz="2000">
                <a:solidFill>
                  <a:srgbClr val="5F6973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484632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t>[Proposed System Diagram]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4D7C20-B38D-BC21-DC41-D96D7BED2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858" y="1088922"/>
            <a:ext cx="5880182" cy="45858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System Architecture / Block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5699E2-07F9-A8A0-0B1C-9E7C668DD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1" y="777241"/>
            <a:ext cx="11155679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7180" y="685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lang="en-IN" dirty="0"/>
              <a:t>Methodology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337560" cy="1361276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2000" b="1" dirty="0">
                <a:solidFill>
                  <a:srgbClr val="3465A4"/>
                </a:solidFill>
              </a:rPr>
              <a:t>1. Collect emergency type and location details.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411980" y="1234440"/>
            <a:ext cx="3337560" cy="1361276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2000" b="1" dirty="0">
                <a:solidFill>
                  <a:srgbClr val="3465A4"/>
                </a:solidFill>
              </a:rPr>
              <a:t>2. Validate the selected emergency location and coordinates.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229600" y="1234440"/>
            <a:ext cx="3337560" cy="1361276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2000" b="1" dirty="0">
                <a:solidFill>
                  <a:srgbClr val="3465A4"/>
                </a:solidFill>
              </a:rPr>
              <a:t>3. </a:t>
            </a:r>
            <a:r>
              <a:rPr lang="en-IN" sz="2000" b="1" dirty="0" err="1">
                <a:solidFill>
                  <a:srgbClr val="3465A4"/>
                </a:solidFill>
              </a:rPr>
              <a:t>Analyze</a:t>
            </a:r>
            <a:r>
              <a:rPr lang="en-IN" sz="2000" b="1" dirty="0">
                <a:solidFill>
                  <a:srgbClr val="3465A4"/>
                </a:solidFill>
              </a:rPr>
              <a:t> the emergency and determine the required resource.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502920" y="3291840"/>
            <a:ext cx="3337560" cy="1466972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2000" b="1" dirty="0">
                <a:solidFill>
                  <a:srgbClr val="3465A4"/>
                </a:solidFill>
              </a:rPr>
              <a:t>4. Allocate a suitable resource such as an ambulance, fire unit, or police unit.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232787" y="3311503"/>
            <a:ext cx="3726426" cy="1466972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2000" b="1" dirty="0">
                <a:solidFill>
                  <a:srgbClr val="3465A4"/>
                </a:solidFill>
              </a:rPr>
              <a:t>5. Use A* Search to calculate the shortest route from the resource to the emergency location.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8229600" y="3291839"/>
            <a:ext cx="3337560" cy="1466973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2000" b="1" dirty="0">
                <a:solidFill>
                  <a:srgbClr val="3465A4"/>
                </a:solidFill>
              </a:rPr>
              <a:t>6. Display the allocated resource, route, distance, and emergency details on the map.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dirty="0"/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90484"/>
            <a:ext cx="10515600" cy="4493538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HTML/CSS/JavaScript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the user interface.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Leaflet.js + OpenStreetMap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interactive map and locations.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+ Flask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backend processing and API requests.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A* Search Algorithm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Finds the shortest emergency route. </a:t>
            </a:r>
          </a:p>
          <a:p>
            <a:pPr lvl="0">
              <a:lnSpc>
                <a:spcPct val="150000"/>
              </a:lnSpc>
            </a:pPr>
            <a:r>
              <a:rPr lang="en-IN" sz="22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OSMnx</a:t>
            </a:r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22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road network and performs route calculation. </a:t>
            </a:r>
          </a:p>
          <a:p>
            <a:pPr lvl="0">
              <a:lnSpc>
                <a:spcPct val="150000"/>
              </a:lnSpc>
            </a:pPr>
            <a:r>
              <a:rPr lang="en-IN" sz="22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Nominatim</a:t>
            </a:r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Searches locations and obtains coordinates.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Transfers data between frontend and backend.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project development.</a:t>
            </a:r>
          </a:p>
          <a:p>
            <a:pPr>
              <a:spcAft>
                <a:spcPts val="1400"/>
              </a:spcAft>
              <a:defRPr sz="2100">
                <a:solidFill>
                  <a:srgbClr val="5F6973"/>
                </a:solidFill>
              </a:defRPr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dirty="0"/>
              <a:t>Module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47732"/>
            <a:ext cx="5029200" cy="1244862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2000" b="1" dirty="0">
                <a:solidFill>
                  <a:srgbClr val="3465A4"/>
                </a:solidFill>
              </a:rPr>
              <a:t>Module 1 – Emergency Input &amp; Location</a:t>
            </a:r>
          </a:p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index.html • map.js</a:t>
            </a:r>
          </a:p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Collects emergency type and location using map selection, current location, or location search.</a:t>
            </a:r>
            <a:endParaRPr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09359" y="947732"/>
            <a:ext cx="5029200" cy="1244862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dirty="0"/>
              <a:t>Module 2 – </a:t>
            </a:r>
            <a:r>
              <a:rPr lang="en-IN" sz="2000" b="1" dirty="0">
                <a:solidFill>
                  <a:srgbClr val="3465A4"/>
                </a:solidFill>
              </a:rPr>
              <a:t>Resource Allocation</a:t>
            </a:r>
          </a:p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resource_allocator.py</a:t>
            </a:r>
          </a:p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16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6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emergency type and selects a suitable available emergency resource.</a:t>
            </a:r>
            <a:endParaRPr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5273" y="2671178"/>
            <a:ext cx="4941693" cy="1329813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dirty="0"/>
              <a:t>Module 3 – </a:t>
            </a:r>
            <a:r>
              <a:rPr lang="en-IN" sz="2000" b="1" i="1" dirty="0">
                <a:solidFill>
                  <a:srgbClr val="3465A4"/>
                </a:solidFill>
              </a:rPr>
              <a:t>A Routing</a:t>
            </a:r>
            <a:r>
              <a:rPr lang="en-IN" sz="2000" b="1" dirty="0">
                <a:solidFill>
                  <a:srgbClr val="3465A4"/>
                </a:solidFill>
              </a:rPr>
              <a:t>*</a:t>
            </a:r>
          </a:p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astar.py •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OSMnx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16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the A* algorithm to calculate the shortest route from the resource location to the emergency location.</a:t>
            </a:r>
            <a:endParaRPr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09359" y="2671178"/>
            <a:ext cx="5029200" cy="1329812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dirty="0"/>
              <a:t>Module 4 – </a:t>
            </a:r>
            <a:r>
              <a:rPr lang="en-IN" sz="2000" b="1" dirty="0">
                <a:solidFill>
                  <a:srgbClr val="3465A4"/>
                </a:solidFill>
              </a:rPr>
              <a:t>Map Visualization</a:t>
            </a:r>
          </a:p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map.js • Leaflet.js • OpenStreetMap</a:t>
            </a:r>
          </a:p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16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emergency location, resource location, and calculated route on the interactive map.</a:t>
            </a:r>
            <a:endParaRPr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57562" y="4501305"/>
            <a:ext cx="5476569" cy="146009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dirty="0"/>
              <a:t>Module 5 – </a:t>
            </a:r>
            <a:r>
              <a:rPr lang="en-IN" sz="2000" b="1" dirty="0">
                <a:solidFill>
                  <a:srgbClr val="3465A4"/>
                </a:solidFill>
              </a:rPr>
              <a:t>Backend &amp; API Integration</a:t>
            </a:r>
          </a:p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app.py • Flask • JSON</a:t>
            </a:r>
          </a:p>
          <a:p>
            <a:pPr algn="ctr">
              <a:defRPr sz="2000" b="1">
                <a:solidFill>
                  <a:srgbClr val="3465A4"/>
                </a:solidFill>
              </a:defRPr>
            </a:pPr>
            <a:r>
              <a:rPr lang="en-IN" sz="16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the frontend with resource allocation and A* routing, and returns the final emergency response details.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88354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dirty="0"/>
              <a:t>Preliminary </a:t>
            </a:r>
            <a:r>
              <a:rPr lang="en-IN" dirty="0"/>
              <a:t>/Output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21904"/>
            <a:ext cx="5303520" cy="420624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63640" y="1143000"/>
            <a:ext cx="5303520" cy="420624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65A4"/>
                </a:solidFill>
              </a:defRPr>
            </a:pPr>
            <a:r>
              <a:t>[Insert Screenshot / Table]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D087F9-831F-11C1-E4D8-6EED91487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25" y="993544"/>
            <a:ext cx="5642336" cy="50537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B54FBD-62EA-AF78-55C6-D0A821486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1" y="946339"/>
            <a:ext cx="5486399" cy="51481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Project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084980"/>
              </p:ext>
            </p:extLst>
          </p:nvPr>
        </p:nvGraphicFramePr>
        <p:xfrm>
          <a:off x="594360" y="11430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Month 1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Month 2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Month 3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Month 4</a:t>
                      </a:r>
                    </a:p>
                  </a:txBody>
                  <a:tcPr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t>Literature Survey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</a:t>
                      </a:r>
                      <a:r>
                        <a:rPr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✓</a:t>
                      </a: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   </a:t>
                      </a:r>
                      <a:r>
                        <a:rPr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✓ 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 _</a:t>
                      </a:r>
                      <a:endParaRPr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   _</a:t>
                      </a:r>
                      <a:endParaRPr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t>Problem Identification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</a:t>
                      </a:r>
                      <a:r>
                        <a:rPr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✓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   _</a:t>
                      </a:r>
                      <a:endParaRPr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 _</a:t>
                      </a:r>
                      <a:endParaRPr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   _</a:t>
                      </a:r>
                      <a:endParaRPr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t>System Design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_</a:t>
                      </a:r>
                      <a:endParaRPr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  </a:t>
                      </a:r>
                      <a:r>
                        <a:rPr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✓ 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 </a:t>
                      </a:r>
                      <a:r>
                        <a:rPr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✓ 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  _   </a:t>
                      </a:r>
                      <a:endParaRPr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_</a:t>
                      </a:r>
                      <a:endParaRPr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  _</a:t>
                      </a:r>
                      <a:endParaRPr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</a:t>
                      </a:r>
                      <a:r>
                        <a:rPr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✓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 </a:t>
                      </a:r>
                      <a:r>
                        <a:rPr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✓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t>Testing &amp; Evaluation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_</a:t>
                      </a:r>
                      <a:endParaRPr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  _</a:t>
                      </a:r>
                      <a:endParaRPr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 _</a:t>
                      </a:r>
                      <a:endParaRPr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5F6973"/>
                          </a:solidFill>
                        </a:defRPr>
                      </a:pPr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                       </a:t>
                      </a:r>
                      <a:r>
                        <a:rPr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✓ 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Current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Literature survey and problem identification completed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Requirement analysis and methodology finalized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System architecture and module design completed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Frontend map interface implemented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Flask backend and resource allocation implemented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A* shortest-path routing integrated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☐ Complete system testing and debugging 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☐ Performance evaluation and documentation</a:t>
            </a:r>
          </a:p>
          <a:p>
            <a:pPr>
              <a:spcAft>
                <a:spcPts val="1400"/>
              </a:spcAft>
              <a:defRPr sz="2200">
                <a:solidFill>
                  <a:srgbClr val="5F6973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C4C5A1-9B47-3A08-99EC-62C31EBA9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768" y="1143000"/>
            <a:ext cx="3303638" cy="48812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3C9CF7-3F71-58D3-B8E8-98D9D5E11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73" y="1132676"/>
            <a:ext cx="7388101" cy="48669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3445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AI-based resource allocation with A* pathfinding for emergency response.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emergency type, priority, and suitable emergency resource based on the given location.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Leaflet and OpenStreetMap provide an interactive map for selecting and searching emergency locations.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A* algorithm calculates an efficient route from the selected resource location to the emergency location.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route distance, resource details, priority, and map-based visualization to support faster emergency decision-making.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expected outcome is a simple, efficient, and user-friendly emergency resource allocation and routing system.</a:t>
            </a:r>
          </a:p>
          <a:p>
            <a:pPr>
              <a:spcAft>
                <a:spcPts val="1400"/>
              </a:spcAft>
              <a:defRPr sz="2400">
                <a:solidFill>
                  <a:srgbClr val="5F6973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410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400"/>
              </a:spcAft>
              <a:buFont typeface="+mj-lt"/>
              <a:buAutoNum type="arabicPeriod"/>
              <a:defRPr sz="1900">
                <a:solidFill>
                  <a:srgbClr val="5F6973"/>
                </a:solidFill>
              </a:defRPr>
            </a:pP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A. M. Nordin, Z. A.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Zaharudin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A.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Maasar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N. A. Nordin, "Finding Shortest Path of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the.Ambulance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Routing: Interface of A Algorithm Using C# Programming,"* in Proceedings of the 2012 IEEE Symposium on Humanities, Science and Engineering Research (SHUSER), Kuala Lumpur, Malaysia, June 24–27, 2012, pp. 1569–1573,</a:t>
            </a:r>
            <a:r>
              <a:rPr lang="en-IN" sz="1600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https://ieeexplore.ieee.org/document/6268841</a:t>
            </a:r>
          </a:p>
          <a:p>
            <a:pPr marL="342900" indent="-342900" algn="just">
              <a:lnSpc>
                <a:spcPct val="150000"/>
              </a:lnSpc>
              <a:spcAft>
                <a:spcPts val="1400"/>
              </a:spcAft>
              <a:buFont typeface="+mj-lt"/>
              <a:buAutoNum type="arabicPeriod"/>
              <a:defRPr sz="1900">
                <a:solidFill>
                  <a:srgbClr val="5F6973"/>
                </a:solidFill>
              </a:defRPr>
            </a:pP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Barrachina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P. Garrido, M. Fogue, F. J. Martínez, J.-C.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Cano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C. T. Calafate, and P.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Manzoni,"Reducing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Emergency Services Arrival Time by Using Vehicular Communications and </a:t>
            </a:r>
            <a:r>
              <a:rPr lang="en-IN" sz="16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EvolutionStrategies</a:t>
            </a: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," Expert Systems with Applications, vol. 41, no. 4, pp. 1206–1217, Mar. 2014,</a:t>
            </a:r>
            <a:r>
              <a:rPr lang="en-IN" sz="1600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https://doi.org/10.1016/j.eswa.2013.08.004</a:t>
            </a:r>
          </a:p>
          <a:p>
            <a:pPr marL="342900" indent="-342900" algn="just">
              <a:lnSpc>
                <a:spcPct val="150000"/>
              </a:lnSpc>
              <a:spcAft>
                <a:spcPts val="1400"/>
              </a:spcAft>
              <a:buFont typeface="+mj-lt"/>
              <a:buAutoNum type="arabicPeriod"/>
              <a:defRPr sz="1900">
                <a:solidFill>
                  <a:srgbClr val="5F6973"/>
                </a:solidFill>
              </a:defRPr>
            </a:pPr>
            <a:r>
              <a:rPr lang="en-IN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Pettet, A. Mukhopadhyay, M. J. Kochenderfer, and A. Dubey, "Hierarchical Planning for Resource Allocation in Emergency Response Systems," in Proceedings of the 12th ACM/IEEE International Conference on Cyber-Physical Systems (ICCPS 2021), Nashville, TN, USA, May 2021, </a:t>
            </a:r>
            <a:r>
              <a:rPr lang="en-IN" sz="1600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https://doi.org/10.1145/3450267.3450543</a:t>
            </a:r>
            <a:endParaRPr sz="1600" u="sng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[Department]  |  Project Review – 1  |  [Academic Year]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Questions &amp; Suggestions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4588</TotalTime>
  <Words>1926</Words>
  <Application>Microsoft Office PowerPoint</Application>
  <PresentationFormat>Widescreen</PresentationFormat>
  <Paragraphs>234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Dharshini S</cp:lastModifiedBy>
  <cp:revision>18</cp:revision>
  <dcterms:created xsi:type="dcterms:W3CDTF">2013-01-27T09:14:16Z</dcterms:created>
  <dcterms:modified xsi:type="dcterms:W3CDTF">2026-10-03T12:53:06Z</dcterms:modified>
  <cp:category/>
</cp:coreProperties>
</file>