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6102" autoAdjust="0"/>
    <p:restoredTop sz="94660"/>
  </p:normalViewPr>
  <p:slideViewPr>
    <p:cSldViewPr snapToGrid="0">
      <p:cViewPr varScale="1">
        <p:scale>
          <a:sx n="74" d="100"/>
          <a:sy n="74" d="100"/>
        </p:scale>
        <p:origin x="72"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F31E85-6B50-4414-8303-1660ABD7E6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BFFCE1D-0AE9-4302-BF12-A2B0CA32A9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A3B001-ABFF-418E-9154-637B4600883D}" type="datetimeFigureOut">
              <a:rPr lang="en-IN" smtClean="0"/>
              <a:t>23-09-2026</a:t>
            </a:fld>
            <a:endParaRPr lang="en-IN"/>
          </a:p>
        </p:txBody>
      </p:sp>
      <p:sp>
        <p:nvSpPr>
          <p:cNvPr id="4" name="Footer Placeholder 3">
            <a:extLst>
              <a:ext uri="{FF2B5EF4-FFF2-40B4-BE49-F238E27FC236}">
                <a16:creationId xmlns:a16="http://schemas.microsoft.com/office/drawing/2014/main" id="{F5D54E17-5DD5-4758-8B2D-0B3BE7289F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Rajalakshmi Engineering College,Department of Cyber Security</a:t>
            </a:r>
            <a:endParaRPr lang="en-IN"/>
          </a:p>
        </p:txBody>
      </p:sp>
      <p:sp>
        <p:nvSpPr>
          <p:cNvPr id="5" name="Slide Number Placeholder 4">
            <a:extLst>
              <a:ext uri="{FF2B5EF4-FFF2-40B4-BE49-F238E27FC236}">
                <a16:creationId xmlns:a16="http://schemas.microsoft.com/office/drawing/2014/main" id="{D38A4D68-88AA-42B1-B509-F1FA04B3A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E9E7C3-5A08-4764-A95A-BBECC46AC650}" type="slidenum">
              <a:rPr lang="en-IN" smtClean="0"/>
              <a:t>‹#›</a:t>
            </a:fld>
            <a:endParaRPr lang="en-IN"/>
          </a:p>
        </p:txBody>
      </p:sp>
    </p:spTree>
    <p:extLst>
      <p:ext uri="{BB962C8B-B14F-4D97-AF65-F5344CB8AC3E}">
        <p14:creationId xmlns:p14="http://schemas.microsoft.com/office/powerpoint/2010/main" val="211026868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A9BA1-D418-46F7-B646-16F2E4E1F9F7}"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Rajalakshmi Engineering College,Department of Cyber Security</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2CE00-EA5F-4FB0-8537-EFD9EFC07CA8}" type="slidenum">
              <a:rPr lang="en-IN" smtClean="0"/>
              <a:t>‹#›</a:t>
            </a:fld>
            <a:endParaRPr lang="en-IN"/>
          </a:p>
        </p:txBody>
      </p:sp>
    </p:spTree>
    <p:extLst>
      <p:ext uri="{BB962C8B-B14F-4D97-AF65-F5344CB8AC3E}">
        <p14:creationId xmlns:p14="http://schemas.microsoft.com/office/powerpoint/2010/main" val="347555755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DA59A-BCBE-48E2-A350-FB035DDECB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5FF6DBD-B524-460B-AA44-E186583A49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14A3FC-54A1-489A-8276-92648A22A5D9}"/>
              </a:ext>
            </a:extLst>
          </p:cNvPr>
          <p:cNvSpPr>
            <a:spLocks noGrp="1"/>
          </p:cNvSpPr>
          <p:nvPr>
            <p:ph type="dt" sz="half" idx="10"/>
          </p:nvPr>
        </p:nvSpPr>
        <p:spPr/>
        <p:txBody>
          <a:bodyPr/>
          <a:lstStyle/>
          <a:p>
            <a:fld id="{AF51A6A6-A7F2-4933-9075-6FF54A45A246}" type="datetime1">
              <a:rPr lang="en-IN" smtClean="0"/>
              <a:t>23-09-2026</a:t>
            </a:fld>
            <a:endParaRPr lang="en-IN"/>
          </a:p>
        </p:txBody>
      </p:sp>
      <p:sp>
        <p:nvSpPr>
          <p:cNvPr id="5" name="Footer Placeholder 4">
            <a:extLst>
              <a:ext uri="{FF2B5EF4-FFF2-40B4-BE49-F238E27FC236}">
                <a16:creationId xmlns:a16="http://schemas.microsoft.com/office/drawing/2014/main" id="{94F8D5EB-B231-46BD-AC05-9475512F664D}"/>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795ACC44-0FA3-41D7-8827-56818F396F7A}"/>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087453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A280-D3AA-4359-82E8-23CF7F95F9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80452E-B981-494B-AF11-EEEB6CB1BC6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F6FC46-05C5-491A-98F5-67DFE9F1BD84}"/>
              </a:ext>
            </a:extLst>
          </p:cNvPr>
          <p:cNvSpPr>
            <a:spLocks noGrp="1"/>
          </p:cNvSpPr>
          <p:nvPr>
            <p:ph type="dt" sz="half" idx="10"/>
          </p:nvPr>
        </p:nvSpPr>
        <p:spPr/>
        <p:txBody>
          <a:bodyPr/>
          <a:lstStyle/>
          <a:p>
            <a:fld id="{8E93293B-E7C6-4EBD-97F1-D064646A23FC}" type="datetime1">
              <a:rPr lang="en-IN" smtClean="0"/>
              <a:t>23-09-2026</a:t>
            </a:fld>
            <a:endParaRPr lang="en-IN"/>
          </a:p>
        </p:txBody>
      </p:sp>
      <p:sp>
        <p:nvSpPr>
          <p:cNvPr id="5" name="Footer Placeholder 4">
            <a:extLst>
              <a:ext uri="{FF2B5EF4-FFF2-40B4-BE49-F238E27FC236}">
                <a16:creationId xmlns:a16="http://schemas.microsoft.com/office/drawing/2014/main" id="{25EC7F8E-CF1F-4BF8-9AB5-1D86268D62CB}"/>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609DCA77-D61D-46CC-A34B-A12DBAB35CA6}"/>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784564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E4260-F786-41D5-AA19-25971DA5A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254B45-ABB3-43F6-A69A-330D3EEE3A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6BFBA7F-C03D-42BA-860F-C0084E058366}"/>
              </a:ext>
            </a:extLst>
          </p:cNvPr>
          <p:cNvSpPr>
            <a:spLocks noGrp="1"/>
          </p:cNvSpPr>
          <p:nvPr>
            <p:ph type="dt" sz="half" idx="10"/>
          </p:nvPr>
        </p:nvSpPr>
        <p:spPr/>
        <p:txBody>
          <a:bodyPr/>
          <a:lstStyle/>
          <a:p>
            <a:fld id="{A9C731AF-597A-4011-A47A-590DF41FF4CE}" type="datetime1">
              <a:rPr lang="en-IN" smtClean="0"/>
              <a:t>23-09-2026</a:t>
            </a:fld>
            <a:endParaRPr lang="en-IN"/>
          </a:p>
        </p:txBody>
      </p:sp>
      <p:sp>
        <p:nvSpPr>
          <p:cNvPr id="5" name="Footer Placeholder 4">
            <a:extLst>
              <a:ext uri="{FF2B5EF4-FFF2-40B4-BE49-F238E27FC236}">
                <a16:creationId xmlns:a16="http://schemas.microsoft.com/office/drawing/2014/main" id="{743C5C7F-0F76-4539-A47B-34FE706B30B2}"/>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0338696-8488-4503-B740-D2352312EA0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108305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93C4-F8EF-4CB4-90F1-A6F2C25334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A15783-F42E-4766-9BD6-9281265A44E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CDE48A-A630-45BF-BFE4-7FAE6E8FE5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F3FBA5-DF65-41CC-BAA5-E9D93CAD490F}"/>
              </a:ext>
            </a:extLst>
          </p:cNvPr>
          <p:cNvSpPr>
            <a:spLocks noGrp="1"/>
          </p:cNvSpPr>
          <p:nvPr>
            <p:ph type="dt" sz="half" idx="10"/>
          </p:nvPr>
        </p:nvSpPr>
        <p:spPr/>
        <p:txBody>
          <a:bodyPr/>
          <a:lstStyle/>
          <a:p>
            <a:fld id="{9BE8AE2A-4198-4CFC-8A3D-99793047056B}" type="datetime1">
              <a:rPr lang="en-IN" smtClean="0"/>
              <a:t>23-09-2026</a:t>
            </a:fld>
            <a:endParaRPr lang="en-IN"/>
          </a:p>
        </p:txBody>
      </p:sp>
      <p:sp>
        <p:nvSpPr>
          <p:cNvPr id="6" name="Footer Placeholder 5">
            <a:extLst>
              <a:ext uri="{FF2B5EF4-FFF2-40B4-BE49-F238E27FC236}">
                <a16:creationId xmlns:a16="http://schemas.microsoft.com/office/drawing/2014/main" id="{BD748E5F-5552-416B-BC90-C62417A3A89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3D6DDB7E-587A-4AA5-8A58-352BC20C792F}"/>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61870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7CEE-8F3F-40F1-B22D-D53F1637F0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BAEE05-D573-4122-8E24-00B78F74B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AF22DC4-F974-49BF-B147-72208B764FB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E9CDB9-0076-4DF6-9690-182E5157AA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93C982-67D7-427B-8C3D-1FF7CC53EF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C65A0D-D7E5-4F76-A5DC-B3A473496CA6}"/>
              </a:ext>
            </a:extLst>
          </p:cNvPr>
          <p:cNvSpPr>
            <a:spLocks noGrp="1"/>
          </p:cNvSpPr>
          <p:nvPr>
            <p:ph type="dt" sz="half" idx="10"/>
          </p:nvPr>
        </p:nvSpPr>
        <p:spPr/>
        <p:txBody>
          <a:bodyPr/>
          <a:lstStyle/>
          <a:p>
            <a:fld id="{5979E98C-4750-4DE8-AE7D-913096F33BA4}" type="datetime1">
              <a:rPr lang="en-IN" smtClean="0"/>
              <a:t>23-09-2026</a:t>
            </a:fld>
            <a:endParaRPr lang="en-IN"/>
          </a:p>
        </p:txBody>
      </p:sp>
      <p:sp>
        <p:nvSpPr>
          <p:cNvPr id="8" name="Footer Placeholder 7">
            <a:extLst>
              <a:ext uri="{FF2B5EF4-FFF2-40B4-BE49-F238E27FC236}">
                <a16:creationId xmlns:a16="http://schemas.microsoft.com/office/drawing/2014/main" id="{5224A474-160B-4E5B-B8C1-9A764A898991}"/>
              </a:ext>
            </a:extLst>
          </p:cNvPr>
          <p:cNvSpPr>
            <a:spLocks noGrp="1"/>
          </p:cNvSpPr>
          <p:nvPr>
            <p:ph type="ftr" sz="quarter" idx="11"/>
          </p:nvPr>
        </p:nvSpPr>
        <p:spPr/>
        <p:txBody>
          <a:bodyPr/>
          <a:lstStyle/>
          <a:p>
            <a:r>
              <a:rPr lang="en-US"/>
              <a:t>Rajalakshmi Engineering College,Department of Cyber Security</a:t>
            </a:r>
            <a:endParaRPr lang="en-IN"/>
          </a:p>
        </p:txBody>
      </p:sp>
      <p:sp>
        <p:nvSpPr>
          <p:cNvPr id="9" name="Slide Number Placeholder 8">
            <a:extLst>
              <a:ext uri="{FF2B5EF4-FFF2-40B4-BE49-F238E27FC236}">
                <a16:creationId xmlns:a16="http://schemas.microsoft.com/office/drawing/2014/main" id="{66B52139-45CD-4883-962C-8B58CD26A6C3}"/>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12475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0830-F074-417B-B120-745038C2D8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EC52E2-6C9D-4F48-9885-60AA29DED4E7}"/>
              </a:ext>
            </a:extLst>
          </p:cNvPr>
          <p:cNvSpPr>
            <a:spLocks noGrp="1"/>
          </p:cNvSpPr>
          <p:nvPr>
            <p:ph type="dt" sz="half" idx="10"/>
          </p:nvPr>
        </p:nvSpPr>
        <p:spPr/>
        <p:txBody>
          <a:bodyPr/>
          <a:lstStyle/>
          <a:p>
            <a:fld id="{76A4900D-B9D7-4B48-B03E-93C6BFA38FDB}" type="datetime1">
              <a:rPr lang="en-IN" smtClean="0"/>
              <a:t>23-09-2026</a:t>
            </a:fld>
            <a:endParaRPr lang="en-IN"/>
          </a:p>
        </p:txBody>
      </p:sp>
      <p:sp>
        <p:nvSpPr>
          <p:cNvPr id="4" name="Footer Placeholder 3">
            <a:extLst>
              <a:ext uri="{FF2B5EF4-FFF2-40B4-BE49-F238E27FC236}">
                <a16:creationId xmlns:a16="http://schemas.microsoft.com/office/drawing/2014/main" id="{136F0182-AF02-46DC-A005-32A72DB49D74}"/>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Slide Number Placeholder 4">
            <a:extLst>
              <a:ext uri="{FF2B5EF4-FFF2-40B4-BE49-F238E27FC236}">
                <a16:creationId xmlns:a16="http://schemas.microsoft.com/office/drawing/2014/main" id="{BF89F1EB-8B71-439F-B1E9-6EA720C1B448}"/>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31062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2A6E2-8CED-468E-B9C8-63EEF92A1ACC}"/>
              </a:ext>
            </a:extLst>
          </p:cNvPr>
          <p:cNvSpPr>
            <a:spLocks noGrp="1"/>
          </p:cNvSpPr>
          <p:nvPr>
            <p:ph type="dt" sz="half" idx="10"/>
          </p:nvPr>
        </p:nvSpPr>
        <p:spPr/>
        <p:txBody>
          <a:bodyPr/>
          <a:lstStyle/>
          <a:p>
            <a:fld id="{999DD085-2496-430D-A475-FB3919DB8C97}" type="datetime1">
              <a:rPr lang="en-IN" smtClean="0"/>
              <a:t>23-09-2026</a:t>
            </a:fld>
            <a:endParaRPr lang="en-IN"/>
          </a:p>
        </p:txBody>
      </p:sp>
      <p:sp>
        <p:nvSpPr>
          <p:cNvPr id="3" name="Footer Placeholder 2">
            <a:extLst>
              <a:ext uri="{FF2B5EF4-FFF2-40B4-BE49-F238E27FC236}">
                <a16:creationId xmlns:a16="http://schemas.microsoft.com/office/drawing/2014/main" id="{BADDDBB6-47BF-4BE7-97E4-AB044897F59E}"/>
              </a:ext>
            </a:extLst>
          </p:cNvPr>
          <p:cNvSpPr>
            <a:spLocks noGrp="1"/>
          </p:cNvSpPr>
          <p:nvPr>
            <p:ph type="ftr" sz="quarter" idx="11"/>
          </p:nvPr>
        </p:nvSpPr>
        <p:spPr/>
        <p:txBody>
          <a:bodyPr/>
          <a:lstStyle/>
          <a:p>
            <a:r>
              <a:rPr lang="en-US"/>
              <a:t>Rajalakshmi Engineering College,Department of Cyber Security</a:t>
            </a:r>
            <a:endParaRPr lang="en-IN"/>
          </a:p>
        </p:txBody>
      </p:sp>
      <p:sp>
        <p:nvSpPr>
          <p:cNvPr id="4" name="Slide Number Placeholder 3">
            <a:extLst>
              <a:ext uri="{FF2B5EF4-FFF2-40B4-BE49-F238E27FC236}">
                <a16:creationId xmlns:a16="http://schemas.microsoft.com/office/drawing/2014/main" id="{7C40F90C-24D0-4C65-99B4-EADB86BE3DC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167103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65C33-D77F-42B7-969F-DE257926C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398D13-72C5-42CB-BDE1-8AA6B32DD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35EF6E-114D-425F-BB1A-C35164117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418FDF-36DE-48DA-886F-421C220369FE}"/>
              </a:ext>
            </a:extLst>
          </p:cNvPr>
          <p:cNvSpPr>
            <a:spLocks noGrp="1"/>
          </p:cNvSpPr>
          <p:nvPr>
            <p:ph type="dt" sz="half" idx="10"/>
          </p:nvPr>
        </p:nvSpPr>
        <p:spPr/>
        <p:txBody>
          <a:bodyPr/>
          <a:lstStyle/>
          <a:p>
            <a:fld id="{76D46D8D-D6A6-4D95-BF85-9EF8F0710FA7}" type="datetime1">
              <a:rPr lang="en-IN" smtClean="0"/>
              <a:t>23-09-2026</a:t>
            </a:fld>
            <a:endParaRPr lang="en-IN"/>
          </a:p>
        </p:txBody>
      </p:sp>
      <p:sp>
        <p:nvSpPr>
          <p:cNvPr id="6" name="Footer Placeholder 5">
            <a:extLst>
              <a:ext uri="{FF2B5EF4-FFF2-40B4-BE49-F238E27FC236}">
                <a16:creationId xmlns:a16="http://schemas.microsoft.com/office/drawing/2014/main" id="{D8F1A6E3-D660-40AD-AC51-1F8805A5344F}"/>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2F190E82-A75D-48B1-B3E6-FF48ADF8056C}"/>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04670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577C-5B3A-48AD-9B45-4A9C9A23E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30F3EF-BF57-46A6-9EB6-2DA43D25D7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45DFA0-E5C8-4DDF-B283-4A2DD170A3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EA8042-4719-4615-8878-7A26662FBAB6}"/>
              </a:ext>
            </a:extLst>
          </p:cNvPr>
          <p:cNvSpPr>
            <a:spLocks noGrp="1"/>
          </p:cNvSpPr>
          <p:nvPr>
            <p:ph type="dt" sz="half" idx="10"/>
          </p:nvPr>
        </p:nvSpPr>
        <p:spPr/>
        <p:txBody>
          <a:bodyPr/>
          <a:lstStyle/>
          <a:p>
            <a:fld id="{08C03A52-04AE-48F7-9FCF-E17B2D2BA4E4}" type="datetime1">
              <a:rPr lang="en-IN" smtClean="0"/>
              <a:t>23-09-2026</a:t>
            </a:fld>
            <a:endParaRPr lang="en-IN"/>
          </a:p>
        </p:txBody>
      </p:sp>
      <p:sp>
        <p:nvSpPr>
          <p:cNvPr id="6" name="Footer Placeholder 5">
            <a:extLst>
              <a:ext uri="{FF2B5EF4-FFF2-40B4-BE49-F238E27FC236}">
                <a16:creationId xmlns:a16="http://schemas.microsoft.com/office/drawing/2014/main" id="{379B10D6-FDCC-4E80-9116-42BC543C5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7ECE45E7-2218-4691-9448-44DD3A1AACD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42228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F59C-24A2-4159-9380-F6AAEA13E3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2AC032-FA02-45A1-B799-75A08E88843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449FC9-D5D3-4E4A-9286-9E96B8147DBC}"/>
              </a:ext>
            </a:extLst>
          </p:cNvPr>
          <p:cNvSpPr>
            <a:spLocks noGrp="1"/>
          </p:cNvSpPr>
          <p:nvPr>
            <p:ph type="dt" sz="half" idx="10"/>
          </p:nvPr>
        </p:nvSpPr>
        <p:spPr/>
        <p:txBody>
          <a:bodyPr/>
          <a:lstStyle/>
          <a:p>
            <a:fld id="{A40E1855-FF8B-4A8F-B974-476D0BEFE359}" type="datetime1">
              <a:rPr lang="en-IN" smtClean="0"/>
              <a:t>23-09-2026</a:t>
            </a:fld>
            <a:endParaRPr lang="en-IN"/>
          </a:p>
        </p:txBody>
      </p:sp>
      <p:sp>
        <p:nvSpPr>
          <p:cNvPr id="5" name="Footer Placeholder 4">
            <a:extLst>
              <a:ext uri="{FF2B5EF4-FFF2-40B4-BE49-F238E27FC236}">
                <a16:creationId xmlns:a16="http://schemas.microsoft.com/office/drawing/2014/main" id="{B189B5AB-659C-41B0-9073-34826E629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028DCFD4-462A-4C50-9A15-A34E5BAD4101}"/>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753087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6CEE7-4472-4220-ABE7-624EBBAB35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BCA2D1-1973-4733-9AC1-AA8B41575B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8E509-CC9E-46C7-BCB4-B4C77706FE67}"/>
              </a:ext>
            </a:extLst>
          </p:cNvPr>
          <p:cNvSpPr>
            <a:spLocks noGrp="1"/>
          </p:cNvSpPr>
          <p:nvPr>
            <p:ph type="dt" sz="half" idx="10"/>
          </p:nvPr>
        </p:nvSpPr>
        <p:spPr/>
        <p:txBody>
          <a:bodyPr/>
          <a:lstStyle/>
          <a:p>
            <a:fld id="{29F94AA9-A825-4631-9385-0F96794CA13F}" type="datetime1">
              <a:rPr lang="en-IN" smtClean="0"/>
              <a:t>23-09-2026</a:t>
            </a:fld>
            <a:endParaRPr lang="en-IN"/>
          </a:p>
        </p:txBody>
      </p:sp>
      <p:sp>
        <p:nvSpPr>
          <p:cNvPr id="5" name="Footer Placeholder 4">
            <a:extLst>
              <a:ext uri="{FF2B5EF4-FFF2-40B4-BE49-F238E27FC236}">
                <a16:creationId xmlns:a16="http://schemas.microsoft.com/office/drawing/2014/main" id="{366ADC3E-64E9-4052-AAAA-0A77E649D2E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7B93A4B-8F28-4558-9932-5AEBAE56567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924892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61322-C13F-4F32-A9C2-A66C573C58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44B022-D55F-4115-A03E-92A7A8351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B1FBDE-AF6F-4F87-97D2-A1D19B658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EDD9C9-F760-491D-BEB2-C9719B2DAA72}" type="datetime1">
              <a:rPr lang="en-IN" smtClean="0"/>
              <a:t>23-09-2026</a:t>
            </a:fld>
            <a:endParaRPr lang="en-IN"/>
          </a:p>
        </p:txBody>
      </p:sp>
      <p:sp>
        <p:nvSpPr>
          <p:cNvPr id="5" name="Footer Placeholder 4">
            <a:extLst>
              <a:ext uri="{FF2B5EF4-FFF2-40B4-BE49-F238E27FC236}">
                <a16:creationId xmlns:a16="http://schemas.microsoft.com/office/drawing/2014/main" id="{3105F895-F6B3-49E8-AE71-CA9D6A533B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EE01C5C0-3DE6-438F-852E-4102D3E14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CF31F-072A-420B-BD3B-3E62C5546025}" type="slidenum">
              <a:rPr lang="en-IN" smtClean="0"/>
              <a:t>‹#›</a:t>
            </a:fld>
            <a:endParaRPr lang="en-IN"/>
          </a:p>
        </p:txBody>
      </p:sp>
    </p:spTree>
    <p:extLst>
      <p:ext uri="{BB962C8B-B14F-4D97-AF65-F5344CB8AC3E}">
        <p14:creationId xmlns:p14="http://schemas.microsoft.com/office/powerpoint/2010/main" val="3735061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016/j.aap.2021.106501" TargetMode="External"/><Relationship Id="rId2" Type="http://schemas.openxmlformats.org/officeDocument/2006/relationships/hyperlink" Target="https://ieeexplore.ieee.org/document/6268841" TargetMode="External"/><Relationship Id="rId1" Type="http://schemas.openxmlformats.org/officeDocument/2006/relationships/slideLayout" Target="../slideLayouts/slideLayout2.xml"/><Relationship Id="rId4" Type="http://schemas.openxmlformats.org/officeDocument/2006/relationships/hyperlink" Target="https://doi.org/10.1145/3450267.345054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laceHolder 1">
            <a:extLst>
              <a:ext uri="{FF2B5EF4-FFF2-40B4-BE49-F238E27FC236}">
                <a16:creationId xmlns:a16="http://schemas.microsoft.com/office/drawing/2014/main" id="{06BEF5B7-F160-4818-BC4E-3751DDE221D5}"/>
              </a:ext>
            </a:extLst>
          </p:cNvPr>
          <p:cNvSpPr txBox="1">
            <a:spLocks/>
          </p:cNvSpPr>
          <p:nvPr/>
        </p:nvSpPr>
        <p:spPr>
          <a:xfrm>
            <a:off x="1488141" y="1653501"/>
            <a:ext cx="9601199" cy="39315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641"/>
              </a:spcBef>
              <a:buFont typeface="Arial" panose="020B0604020202020204" pitchFamily="34" charset="0"/>
              <a:buNone/>
              <a:tabLst>
                <a:tab pos="0" algn="l"/>
              </a:tabLst>
            </a:pPr>
            <a:r>
              <a:rPr lang="en-US" sz="3200" spc="-1" dirty="0">
                <a:solidFill>
                  <a:schemeClr val="dk1"/>
                </a:solidFill>
                <a:latin typeface="Calibri"/>
              </a:rPr>
              <a:t>              </a:t>
            </a:r>
            <a:r>
              <a:rPr lang="en-US" sz="4000" spc="-1" dirty="0">
                <a:solidFill>
                  <a:schemeClr val="dk1"/>
                </a:solidFill>
                <a:latin typeface="Times New Roman"/>
              </a:rPr>
              <a:t>Department of Cyber Security</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2026-2027- Odd Semester</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III Year /V Sem</a:t>
            </a:r>
          </a:p>
          <a:p>
            <a:pPr indent="0">
              <a:lnSpc>
                <a:spcPct val="100000"/>
              </a:lnSpc>
              <a:spcBef>
                <a:spcPts val="641"/>
              </a:spcBef>
              <a:buNone/>
              <a:tabLst>
                <a:tab pos="0" algn="l"/>
              </a:tabLst>
            </a:pPr>
            <a:r>
              <a:rPr lang="en-US" b="1" dirty="0"/>
              <a:t>          CS23533-FOUNDATIONS OF ARTIFICIAL INTELLIGENCE</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Zeroth Review – 05-08-2026</a:t>
            </a:r>
            <a:endParaRPr lang="en-IN" sz="4000" spc="-1" dirty="0">
              <a:solidFill>
                <a:srgbClr val="000000"/>
              </a:solidFill>
              <a:latin typeface="Arial"/>
            </a:endParaRPr>
          </a:p>
        </p:txBody>
      </p:sp>
      <p:sp>
        <p:nvSpPr>
          <p:cNvPr id="14" name="Footer Placeholder 13">
            <a:extLst>
              <a:ext uri="{FF2B5EF4-FFF2-40B4-BE49-F238E27FC236}">
                <a16:creationId xmlns:a16="http://schemas.microsoft.com/office/drawing/2014/main" id="{9D81229B-0330-4B71-AFEC-B3C206A7C81E}"/>
              </a:ext>
            </a:extLst>
          </p:cNvPr>
          <p:cNvSpPr>
            <a:spLocks noGrp="1"/>
          </p:cNvSpPr>
          <p:nvPr>
            <p:ph type="ftr" sz="quarter" idx="11"/>
          </p:nvPr>
        </p:nvSpPr>
        <p:spPr/>
        <p:txBody>
          <a:bodyPr/>
          <a:lstStyle/>
          <a:p>
            <a:r>
              <a:rPr lang="en-US"/>
              <a:t>Rajalakshmi Engineering College,Department of Cyber Security</a:t>
            </a:r>
            <a:endParaRPr lang="en-IN"/>
          </a:p>
        </p:txBody>
      </p:sp>
      <p:pic>
        <p:nvPicPr>
          <p:cNvPr id="2" name="Picture 1">
            <a:extLst>
              <a:ext uri="{FF2B5EF4-FFF2-40B4-BE49-F238E27FC236}">
                <a16:creationId xmlns:a16="http://schemas.microsoft.com/office/drawing/2014/main" id="{FC96B05F-5134-66A2-E6A6-C856FF46B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4912" y="371789"/>
            <a:ext cx="5908430" cy="1416818"/>
          </a:xfrm>
          <a:prstGeom prst="rect">
            <a:avLst/>
          </a:prstGeom>
        </p:spPr>
      </p:pic>
    </p:spTree>
    <p:extLst>
      <p:ext uri="{BB962C8B-B14F-4D97-AF65-F5344CB8AC3E}">
        <p14:creationId xmlns:p14="http://schemas.microsoft.com/office/powerpoint/2010/main" val="22259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laceHolder 1">
            <a:extLst>
              <a:ext uri="{FF2B5EF4-FFF2-40B4-BE49-F238E27FC236}">
                <a16:creationId xmlns:a16="http://schemas.microsoft.com/office/drawing/2014/main" id="{06BEF5B7-F160-4818-BC4E-3751DDE221D5}"/>
              </a:ext>
            </a:extLst>
          </p:cNvPr>
          <p:cNvSpPr txBox="1">
            <a:spLocks/>
          </p:cNvSpPr>
          <p:nvPr/>
        </p:nvSpPr>
        <p:spPr>
          <a:xfrm>
            <a:off x="1295400" y="1653501"/>
            <a:ext cx="9601199" cy="1775499"/>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641"/>
              </a:spcBef>
              <a:buFont typeface="Arial" panose="020B0604020202020204" pitchFamily="34" charset="0"/>
              <a:buNone/>
              <a:tabLst>
                <a:tab pos="0" algn="l"/>
              </a:tabLst>
            </a:pPr>
            <a:r>
              <a:rPr dirty="0"/>
              <a:t>	</a:t>
            </a:r>
            <a:endParaRPr lang="en-US" dirty="0"/>
          </a:p>
          <a:p>
            <a:pPr indent="0">
              <a:lnSpc>
                <a:spcPct val="100000"/>
              </a:lnSpc>
              <a:spcBef>
                <a:spcPts val="641"/>
              </a:spcBef>
              <a:buFont typeface="Arial" panose="020B0604020202020204" pitchFamily="34" charset="0"/>
              <a:buNone/>
              <a:tabLst>
                <a:tab pos="0" algn="l"/>
              </a:tabLst>
            </a:pPr>
            <a:r>
              <a:rPr lang="en-IN" dirty="0"/>
              <a:t>     </a:t>
            </a:r>
            <a:r>
              <a:rPr b="1" dirty="0"/>
              <a:t>AI-BASED EMERGENC</a:t>
            </a:r>
            <a:r>
              <a:rPr lang="en-US" b="1" dirty="0"/>
              <a:t>Y </a:t>
            </a:r>
            <a:r>
              <a:rPr b="1" dirty="0"/>
              <a:t>RES</a:t>
            </a:r>
            <a:r>
              <a:rPr lang="en-US" b="1" dirty="0"/>
              <a:t>OURCE ALLOCATION</a:t>
            </a:r>
            <a:r>
              <a:rPr b="1" dirty="0"/>
              <a:t> SYSTEM</a:t>
            </a:r>
          </a:p>
        </p:txBody>
      </p:sp>
      <p:sp>
        <p:nvSpPr>
          <p:cNvPr id="4" name="PlaceHolder 2">
            <a:extLst>
              <a:ext uri="{FF2B5EF4-FFF2-40B4-BE49-F238E27FC236}">
                <a16:creationId xmlns:a16="http://schemas.microsoft.com/office/drawing/2014/main" id="{C32D6708-F773-46E7-9E94-72075E88B5CC}"/>
              </a:ext>
            </a:extLst>
          </p:cNvPr>
          <p:cNvSpPr txBox="1">
            <a:spLocks/>
          </p:cNvSpPr>
          <p:nvPr/>
        </p:nvSpPr>
        <p:spPr>
          <a:xfrm>
            <a:off x="1595718" y="3278879"/>
            <a:ext cx="5626176" cy="1925619"/>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400"/>
              </a:spcBef>
              <a:buFont typeface="Arial" panose="020B0604020202020204" pitchFamily="34" charset="0"/>
              <a:buNone/>
              <a:tabLst>
                <a:tab pos="0" algn="l"/>
              </a:tabLst>
            </a:pPr>
            <a:r>
              <a:rPr lang="en-US" sz="2000" b="1" spc="-1" dirty="0">
                <a:solidFill>
                  <a:schemeClr val="dk1"/>
                </a:solidFill>
                <a:latin typeface="Times New Roman"/>
              </a:rPr>
              <a:t>Batch Members : 2</a:t>
            </a:r>
          </a:p>
          <a:p>
            <a:pPr indent="0">
              <a:lnSpc>
                <a:spcPct val="100000"/>
              </a:lnSpc>
              <a:spcBef>
                <a:spcPts val="400"/>
              </a:spcBef>
              <a:buFont typeface="Arial" panose="020B0604020202020204" pitchFamily="34" charset="0"/>
              <a:buNone/>
              <a:tabLst>
                <a:tab pos="0" algn="l"/>
              </a:tabLst>
            </a:pPr>
            <a:r>
              <a:rPr lang="en-US" sz="2000" b="1" spc="-1" dirty="0">
                <a:solidFill>
                  <a:schemeClr val="dk1"/>
                </a:solidFill>
                <a:latin typeface="Times New Roman"/>
              </a:rPr>
              <a:t>1. DHARSHINI.S   241901026</a:t>
            </a:r>
          </a:p>
          <a:p>
            <a:pPr indent="0">
              <a:lnSpc>
                <a:spcPct val="100000"/>
              </a:lnSpc>
              <a:spcBef>
                <a:spcPts val="400"/>
              </a:spcBef>
              <a:buFont typeface="Arial" panose="020B0604020202020204" pitchFamily="34" charset="0"/>
              <a:buNone/>
              <a:tabLst>
                <a:tab pos="0" algn="l"/>
              </a:tabLst>
            </a:pPr>
            <a:r>
              <a:rPr lang="en-US" sz="2000" b="1" spc="-1" dirty="0">
                <a:solidFill>
                  <a:schemeClr val="dk1"/>
                </a:solidFill>
                <a:latin typeface="Times New Roman"/>
              </a:rPr>
              <a:t>2. KEERTHIKA.K 241901046</a:t>
            </a:r>
            <a:endParaRPr lang="en-IN" sz="2000" spc="-1" dirty="0">
              <a:solidFill>
                <a:srgbClr val="000000"/>
              </a:solidFill>
              <a:latin typeface="Arial"/>
            </a:endParaRPr>
          </a:p>
        </p:txBody>
      </p:sp>
      <p:sp>
        <p:nvSpPr>
          <p:cNvPr id="5" name="PlaceHolder 2">
            <a:extLst>
              <a:ext uri="{FF2B5EF4-FFF2-40B4-BE49-F238E27FC236}">
                <a16:creationId xmlns:a16="http://schemas.microsoft.com/office/drawing/2014/main" id="{34960059-C4DC-4A0F-82B7-476907EEDA90}"/>
              </a:ext>
            </a:extLst>
          </p:cNvPr>
          <p:cNvSpPr txBox="1">
            <a:spLocks/>
          </p:cNvSpPr>
          <p:nvPr/>
        </p:nvSpPr>
        <p:spPr>
          <a:xfrm>
            <a:off x="8153400" y="3281963"/>
            <a:ext cx="4086554" cy="16107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000" b="1" strike="noStrike" spc="-1" dirty="0">
                <a:solidFill>
                  <a:schemeClr val="dk1"/>
                </a:solidFill>
                <a:latin typeface="Times New Roman"/>
              </a:rPr>
              <a:t>Supervisor:</a:t>
            </a:r>
            <a:endParaRPr lang="en-IN" sz="2000" b="0" strike="noStrike" spc="-1" dirty="0">
              <a:solidFill>
                <a:srgbClr val="000000"/>
              </a:solidFill>
              <a:latin typeface="Arial"/>
            </a:endParaRPr>
          </a:p>
          <a:p>
            <a:pPr marL="0" indent="0">
              <a:lnSpc>
                <a:spcPct val="100000"/>
              </a:lnSpc>
              <a:buNone/>
            </a:pPr>
            <a:r>
              <a:rPr lang="en-US" sz="2000" b="1" strike="noStrike" spc="-1" dirty="0">
                <a:solidFill>
                  <a:schemeClr val="dk1"/>
                </a:solidFill>
                <a:latin typeface="Times New Roman"/>
              </a:rPr>
              <a:t>Dr. </a:t>
            </a:r>
            <a:r>
              <a:rPr lang="en-US" sz="2000" b="1" strike="noStrike" spc="-1" dirty="0" err="1">
                <a:solidFill>
                  <a:schemeClr val="dk1"/>
                </a:solidFill>
                <a:latin typeface="Times New Roman"/>
              </a:rPr>
              <a:t>S.Bhuvana</a:t>
            </a:r>
            <a:endParaRPr lang="en-IN" sz="2000" b="0" strike="noStrike" spc="-1" dirty="0">
              <a:solidFill>
                <a:srgbClr val="000000"/>
              </a:solidFill>
              <a:latin typeface="Arial"/>
            </a:endParaRPr>
          </a:p>
          <a:p>
            <a:pPr marL="0" indent="0">
              <a:lnSpc>
                <a:spcPct val="100000"/>
              </a:lnSpc>
              <a:buNone/>
            </a:pPr>
            <a:r>
              <a:rPr lang="en-US" sz="2000" b="1" spc="-1" baseline="33000" dirty="0">
                <a:solidFill>
                  <a:schemeClr val="dk1"/>
                </a:solidFill>
                <a:latin typeface="Times New Roman"/>
              </a:rPr>
              <a:t>Assistant Professor[SG]</a:t>
            </a:r>
            <a:endParaRPr lang="en-IN" sz="2000" b="0" strike="noStrike" spc="-1" dirty="0">
              <a:solidFill>
                <a:srgbClr val="000000"/>
              </a:solidFill>
              <a:latin typeface="Arial"/>
            </a:endParaRPr>
          </a:p>
          <a:p>
            <a:pPr indent="0">
              <a:lnSpc>
                <a:spcPct val="100000"/>
              </a:lnSpc>
              <a:spcBef>
                <a:spcPts val="360"/>
              </a:spcBef>
              <a:buFont typeface="Arial" panose="020B0604020202020204" pitchFamily="34" charset="0"/>
              <a:buNone/>
              <a:tabLst>
                <a:tab pos="0" algn="l"/>
              </a:tabLst>
            </a:pPr>
            <a:endParaRPr lang="en-IN" sz="1800" spc="-1" dirty="0">
              <a:solidFill>
                <a:srgbClr val="000000"/>
              </a:solidFill>
              <a:latin typeface="Arial"/>
            </a:endParaRPr>
          </a:p>
        </p:txBody>
      </p:sp>
      <p:sp>
        <p:nvSpPr>
          <p:cNvPr id="2" name="Footer Placeholder 1">
            <a:extLst>
              <a:ext uri="{FF2B5EF4-FFF2-40B4-BE49-F238E27FC236}">
                <a16:creationId xmlns:a16="http://schemas.microsoft.com/office/drawing/2014/main" id="{B9EA50C1-7D90-44B1-A258-E5A0DCD6BCCE}"/>
              </a:ext>
            </a:extLst>
          </p:cNvPr>
          <p:cNvSpPr>
            <a:spLocks noGrp="1"/>
          </p:cNvSpPr>
          <p:nvPr>
            <p:ph type="ftr" sz="quarter" idx="11"/>
          </p:nvPr>
        </p:nvSpPr>
        <p:spPr/>
        <p:txBody>
          <a:bodyPr/>
          <a:lstStyle/>
          <a:p>
            <a:r>
              <a:rPr lang="en-US"/>
              <a:t>Rajalakshmi Engineering College,Department of Cyber Security</a:t>
            </a:r>
            <a:endParaRPr lang="en-IN"/>
          </a:p>
        </p:txBody>
      </p:sp>
      <p:pic>
        <p:nvPicPr>
          <p:cNvPr id="3" name="Picture 2">
            <a:extLst>
              <a:ext uri="{FF2B5EF4-FFF2-40B4-BE49-F238E27FC236}">
                <a16:creationId xmlns:a16="http://schemas.microsoft.com/office/drawing/2014/main" id="{CE86CE31-B681-C116-F668-23A015636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7243" y="261257"/>
            <a:ext cx="5717511" cy="1392244"/>
          </a:xfrm>
          <a:prstGeom prst="rect">
            <a:avLst/>
          </a:prstGeom>
        </p:spPr>
      </p:pic>
    </p:spTree>
    <p:extLst>
      <p:ext uri="{BB962C8B-B14F-4D97-AF65-F5344CB8AC3E}">
        <p14:creationId xmlns:p14="http://schemas.microsoft.com/office/powerpoint/2010/main" val="2589848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9FF9B-84EC-4676-8D8A-BE77AD168FCD}"/>
              </a:ext>
            </a:extLst>
          </p:cNvPr>
          <p:cNvSpPr>
            <a:spLocks noGrp="1"/>
          </p:cNvSpPr>
          <p:nvPr>
            <p:ph type="title"/>
          </p:nvPr>
        </p:nvSpPr>
        <p:spPr/>
        <p:txBody>
          <a:bodyPr/>
          <a:lstStyle/>
          <a:p>
            <a:pPr algn="ctr"/>
            <a:r>
              <a:rPr lang="en-US" b="1" spc="-1" dirty="0">
                <a:solidFill>
                  <a:schemeClr val="accent1">
                    <a:lumMod val="50000"/>
                  </a:schemeClr>
                </a:solidFill>
                <a:latin typeface="Times New Roman"/>
              </a:rPr>
              <a:t>OUTLINE</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DACBC5E5-D6BC-4856-A612-FD6448275CA9}"/>
              </a:ext>
            </a:extLst>
          </p:cNvPr>
          <p:cNvSpPr>
            <a:spLocks noGrp="1"/>
          </p:cNvSpPr>
          <p:nvPr>
            <p:ph idx="1"/>
          </p:nvPr>
        </p:nvSpPr>
        <p:spPr>
          <a:xfrm>
            <a:off x="918882" y="1771837"/>
            <a:ext cx="10515600" cy="4351338"/>
          </a:xfrm>
        </p:spPr>
        <p:txBody>
          <a:bodyPr>
            <a:normAutofit fontScale="77500" lnSpcReduction="20000"/>
          </a:bodyPr>
          <a:lstStyle/>
          <a:p>
            <a:pPr marL="343080" indent="-343080">
              <a:lnSpc>
                <a:spcPct val="150000"/>
              </a:lnSpc>
              <a:spcBef>
                <a:spcPts val="819"/>
              </a:spcBef>
              <a:buClr>
                <a:srgbClr val="000000"/>
              </a:buClr>
              <a:buFont typeface="Arial"/>
              <a:buChar char="•"/>
            </a:pPr>
            <a:r>
              <a:rPr lang="en-IN" spc="-1" dirty="0">
                <a:solidFill>
                  <a:schemeClr val="dk1"/>
                </a:solidFill>
                <a:latin typeface="Times New Roman"/>
              </a:rPr>
              <a:t>Abstract</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Objective</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Literature Survey</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US" spc="-1" dirty="0">
                <a:solidFill>
                  <a:schemeClr val="dk1"/>
                </a:solidFill>
                <a:latin typeface="Times New Roman"/>
              </a:rPr>
              <a:t>Summary of Literature</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Proposed System &amp; Novelty</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Block Diagram</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US" spc="-1" dirty="0">
                <a:solidFill>
                  <a:schemeClr val="dk1"/>
                </a:solidFill>
                <a:latin typeface="Times New Roman"/>
              </a:rPr>
              <a:t>Hardware/Software requirements</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References</a:t>
            </a:r>
            <a:endParaRPr lang="en-IN" spc="-1" dirty="0">
              <a:solidFill>
                <a:srgbClr val="000000"/>
              </a:solidFill>
              <a:latin typeface="Arial"/>
            </a:endParaRPr>
          </a:p>
          <a:p>
            <a:endParaRPr lang="en-IN" dirty="0"/>
          </a:p>
        </p:txBody>
      </p:sp>
      <p:sp>
        <p:nvSpPr>
          <p:cNvPr id="5" name="Footer Placeholder 4">
            <a:extLst>
              <a:ext uri="{FF2B5EF4-FFF2-40B4-BE49-F238E27FC236}">
                <a16:creationId xmlns:a16="http://schemas.microsoft.com/office/drawing/2014/main" id="{92766A6D-AFEB-431C-8C27-3D289E1F416E}"/>
              </a:ext>
            </a:extLst>
          </p:cNvPr>
          <p:cNvSpPr>
            <a:spLocks noGrp="1"/>
          </p:cNvSpPr>
          <p:nvPr>
            <p:ph type="ftr" sz="quarter" idx="11"/>
          </p:nvPr>
        </p:nvSpPr>
        <p:spPr>
          <a:xfrm>
            <a:off x="4038600" y="6356350"/>
            <a:ext cx="4114800" cy="365125"/>
          </a:xfrm>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522223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574-4D6E-453A-A5B1-E1B1A0126EB9}"/>
              </a:ext>
            </a:extLst>
          </p:cNvPr>
          <p:cNvSpPr>
            <a:spLocks noGrp="1"/>
          </p:cNvSpPr>
          <p:nvPr>
            <p:ph type="title"/>
          </p:nvPr>
        </p:nvSpPr>
        <p:spPr/>
        <p:txBody>
          <a:bodyPr/>
          <a:lstStyle/>
          <a:p>
            <a:pPr algn="ctr"/>
            <a:r>
              <a:rPr lang="en-US" b="1" dirty="0">
                <a:solidFill>
                  <a:schemeClr val="accent1">
                    <a:lumMod val="50000"/>
                  </a:schemeClr>
                </a:solidFill>
              </a:rPr>
              <a:t>ABSTRACT</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A2770EE2-8C3E-4EFA-8326-85AEA10ABEB2}"/>
              </a:ext>
            </a:extLst>
          </p:cNvPr>
          <p:cNvSpPr>
            <a:spLocks noGrp="1"/>
          </p:cNvSpPr>
          <p:nvPr>
            <p:ph idx="1"/>
          </p:nvPr>
        </p:nvSpPr>
        <p:spPr/>
        <p:txBody>
          <a:bodyPr/>
          <a:lstStyle/>
          <a:p>
            <a:pPr marL="0" indent="0" algn="just">
              <a:buNone/>
            </a:pPr>
            <a:r>
              <a:rPr lang="en-IN" sz="2000" dirty="0">
                <a:latin typeface="Times New Roman" panose="02020603050405020304" pitchFamily="18" charset="0"/>
                <a:cs typeface="Times New Roman" panose="02020603050405020304" pitchFamily="18" charset="0"/>
              </a:rPr>
              <a:t>Emergency situations such as road accidents, fires, and medical emergencies require quick and efficient allocation of available emergency resources. The </a:t>
            </a:r>
            <a:r>
              <a:rPr lang="en-IN" sz="2000" b="1" dirty="0">
                <a:latin typeface="Times New Roman" panose="02020603050405020304" pitchFamily="18" charset="0"/>
                <a:cs typeface="Times New Roman" panose="02020603050405020304" pitchFamily="18" charset="0"/>
              </a:rPr>
              <a:t>AI-Based Emergency Resource Allocation System</a:t>
            </a:r>
            <a:r>
              <a:rPr lang="en-IN" sz="2000" dirty="0">
                <a:latin typeface="Times New Roman" panose="02020603050405020304" pitchFamily="18" charset="0"/>
                <a:cs typeface="Times New Roman" panose="02020603050405020304" pitchFamily="18" charset="0"/>
              </a:rPr>
              <a:t> is designed to support intelligent decision-making by automatically assigning the most suitable emergency resource based on the type, priority, and location of the emergency. The system functions as an intelligent agent that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emergency requests and allocates available resources such as ambulances, fire trucks, and police vehicles using knowledge-based rules. To minimize response time, the </a:t>
            </a:r>
            <a:r>
              <a:rPr lang="en-IN" sz="2000" b="1" dirty="0">
                <a:latin typeface="Times New Roman" panose="02020603050405020304" pitchFamily="18" charset="0"/>
                <a:cs typeface="Times New Roman" panose="02020603050405020304" pitchFamily="18" charset="0"/>
              </a:rPr>
              <a:t>A*</a:t>
            </a:r>
            <a:r>
              <a:rPr lang="en-IN" sz="2000" dirty="0">
                <a:latin typeface="Times New Roman" panose="02020603050405020304" pitchFamily="18" charset="0"/>
                <a:cs typeface="Times New Roman" panose="02020603050405020304" pitchFamily="18" charset="0"/>
              </a:rPr>
              <a:t> search algorithm is used to determine the shortest and most efficient route from the selected resource to the emergency location. The system also considers resource availability and road conditions while making allocation decisions. By providing fast, consistent, and logical resource allocation, the proposed system improves emergency response efficiency compared to manual methods. This project demonstrates the practical application of classical Artificial Intelligence concepts, including Intelligent Agents, Heuristic Search, and Knowledge-Based Reasoning, without using Machine Learning, Deep Learning, or Neural Networks.</a:t>
            </a:r>
            <a:endParaRPr sz="2000" b="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C253352-E09F-4AB3-90E5-A8680AC6D6F3}"/>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411113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5A73F-58BE-494C-9E37-463BBF53F79A}"/>
              </a:ext>
            </a:extLst>
          </p:cNvPr>
          <p:cNvSpPr>
            <a:spLocks noGrp="1"/>
          </p:cNvSpPr>
          <p:nvPr>
            <p:ph type="title"/>
          </p:nvPr>
        </p:nvSpPr>
        <p:spPr/>
        <p:txBody>
          <a:bodyPr/>
          <a:lstStyle/>
          <a:p>
            <a:pPr algn="ctr"/>
            <a:r>
              <a:rPr lang="en-US" b="1" dirty="0">
                <a:solidFill>
                  <a:schemeClr val="accent1">
                    <a:lumMod val="50000"/>
                  </a:schemeClr>
                </a:solidFill>
              </a:rPr>
              <a:t>OBJECTIVE</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CAFE6CE6-DDFD-4A02-805E-98888285608C}"/>
              </a:ext>
            </a:extLst>
          </p:cNvPr>
          <p:cNvSpPr>
            <a:spLocks noGrp="1"/>
          </p:cNvSpPr>
          <p:nvPr>
            <p:ph idx="1"/>
          </p:nvPr>
        </p:nvSpPr>
        <p:spPr/>
        <p:txBody>
          <a:bodyPr>
            <a:normAutofit/>
          </a:bodyPr>
          <a:lstStyle/>
          <a:p>
            <a:pPr lvl="0"/>
            <a:r>
              <a:rPr lang="en-IN" sz="2000" b="1" dirty="0">
                <a:latin typeface="Times New Roman" panose="02020603050405020304" pitchFamily="18" charset="0"/>
                <a:cs typeface="Times New Roman" panose="02020603050405020304" pitchFamily="18" charset="0"/>
              </a:rPr>
              <a:t>To develop an AI-based emergency resource allocation system</a:t>
            </a:r>
            <a:r>
              <a:rPr lang="en-IN" sz="2000" dirty="0">
                <a:latin typeface="Times New Roman" panose="02020603050405020304" pitchFamily="18" charset="0"/>
                <a:cs typeface="Times New Roman" panose="02020603050405020304" pitchFamily="18" charset="0"/>
              </a:rPr>
              <a:t> that intelligently assigns the most appropriate emergency resource based on the type, priority, and location of an emergency. </a:t>
            </a:r>
          </a:p>
          <a:p>
            <a:pPr lvl="0"/>
            <a:r>
              <a:rPr lang="en-IN" sz="2000" b="1" dirty="0">
                <a:latin typeface="Times New Roman" panose="02020603050405020304" pitchFamily="18" charset="0"/>
                <a:cs typeface="Times New Roman" panose="02020603050405020304" pitchFamily="18" charset="0"/>
              </a:rPr>
              <a:t>To implement a knowledge-based decision-making mechanism</a:t>
            </a:r>
            <a:r>
              <a:rPr lang="en-IN" sz="2000" dirty="0">
                <a:latin typeface="Times New Roman" panose="02020603050405020304" pitchFamily="18" charset="0"/>
                <a:cs typeface="Times New Roman" panose="02020603050405020304" pitchFamily="18" charset="0"/>
              </a:rPr>
              <a:t> using predefined rules for selecting suitable emergency resources such as ambulances, fire trucks, and police vehicles. </a:t>
            </a:r>
          </a:p>
          <a:p>
            <a:pPr lvl="0"/>
            <a:r>
              <a:rPr lang="en-IN" sz="2000" i="1"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To utilize the A* search algorithm</a:t>
            </a:r>
            <a:r>
              <a:rPr lang="en-IN" sz="2000" dirty="0">
                <a:latin typeface="Times New Roman" panose="02020603050405020304" pitchFamily="18" charset="0"/>
                <a:cs typeface="Times New Roman" panose="02020603050405020304" pitchFamily="18" charset="0"/>
              </a:rPr>
              <a:t> for identifying the shortest and most efficient route from the selected emergency resource to the incident location, thereby reducing response time. </a:t>
            </a:r>
          </a:p>
          <a:p>
            <a:pPr lvl="0"/>
            <a:r>
              <a:rPr lang="en-IN" sz="2000" b="1" dirty="0">
                <a:latin typeface="Times New Roman" panose="02020603050405020304" pitchFamily="18" charset="0"/>
                <a:cs typeface="Times New Roman" panose="02020603050405020304" pitchFamily="18" charset="0"/>
              </a:rPr>
              <a:t>To consider resource availability and road conditions</a:t>
            </a:r>
            <a:r>
              <a:rPr lang="en-IN" sz="2000" dirty="0">
                <a:latin typeface="Times New Roman" panose="02020603050405020304" pitchFamily="18" charset="0"/>
                <a:cs typeface="Times New Roman" panose="02020603050405020304" pitchFamily="18" charset="0"/>
              </a:rPr>
              <a:t> during the allocation process to ensure efficient and practical emergency response. </a:t>
            </a:r>
          </a:p>
          <a:p>
            <a:pPr lvl="0"/>
            <a:r>
              <a:rPr lang="en-IN" sz="2000" b="1" dirty="0">
                <a:latin typeface="Times New Roman" panose="02020603050405020304" pitchFamily="18" charset="0"/>
                <a:cs typeface="Times New Roman" panose="02020603050405020304" pitchFamily="18" charset="0"/>
              </a:rPr>
              <a:t>To improve the speed, accuracy, and consistency of emergency resource allocation</a:t>
            </a:r>
            <a:r>
              <a:rPr lang="en-IN" sz="2000" dirty="0">
                <a:latin typeface="Times New Roman" panose="02020603050405020304" pitchFamily="18" charset="0"/>
                <a:cs typeface="Times New Roman" panose="02020603050405020304" pitchFamily="18" charset="0"/>
              </a:rPr>
              <a:t> compared to conventional manual allocation methods. </a:t>
            </a:r>
          </a:p>
          <a:p>
            <a:pPr lvl="0"/>
            <a:r>
              <a:rPr lang="en-IN" sz="2000" b="1" dirty="0">
                <a:latin typeface="Times New Roman" panose="02020603050405020304" pitchFamily="18" charset="0"/>
                <a:cs typeface="Times New Roman" panose="02020603050405020304" pitchFamily="18" charset="0"/>
              </a:rPr>
              <a:t>To demonstrate the application of classical Artificial Intelligence techniques</a:t>
            </a:r>
            <a:r>
              <a:rPr lang="en-IN" sz="2000" dirty="0">
                <a:latin typeface="Times New Roman" panose="02020603050405020304" pitchFamily="18" charset="0"/>
                <a:cs typeface="Times New Roman" panose="02020603050405020304" pitchFamily="18" charset="0"/>
              </a:rPr>
              <a:t>, including Intelligent Agents, Heuristic Search, and Knowledge-Based Reasoning, without relying on Machine Learning, Deep Learning, or Neural Networks.</a:t>
            </a:r>
          </a:p>
          <a:p>
            <a:endParaRPr sz="2000" b="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8E4B311-0D66-420D-91AF-1DC9BBF4EC96}"/>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540813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021B0-8A61-4C94-955E-EB6F2E038627}"/>
              </a:ext>
            </a:extLst>
          </p:cNvPr>
          <p:cNvSpPr>
            <a:spLocks noGrp="1"/>
          </p:cNvSpPr>
          <p:nvPr>
            <p:ph type="title"/>
          </p:nvPr>
        </p:nvSpPr>
        <p:spPr/>
        <p:txBody>
          <a:bodyPr/>
          <a:lstStyle/>
          <a:p>
            <a:pPr algn="ctr"/>
            <a:r>
              <a:rPr lang="en-IN" spc="-1" dirty="0">
                <a:solidFill>
                  <a:schemeClr val="accent1">
                    <a:lumMod val="50000"/>
                  </a:schemeClr>
                </a:solidFill>
                <a:latin typeface="Times New Roman"/>
              </a:rPr>
              <a:t>Literature Survey</a:t>
            </a:r>
            <a:endParaRPr lang="en-IN" dirty="0">
              <a:solidFill>
                <a:schemeClr val="accent1">
                  <a:lumMod val="50000"/>
                </a:schemeClr>
              </a:solidFill>
            </a:endParaRPr>
          </a:p>
        </p:txBody>
      </p:sp>
      <p:graphicFrame>
        <p:nvGraphicFramePr>
          <p:cNvPr id="4" name="Content Placeholder 3">
            <a:extLst>
              <a:ext uri="{FF2B5EF4-FFF2-40B4-BE49-F238E27FC236}">
                <a16:creationId xmlns:a16="http://schemas.microsoft.com/office/drawing/2014/main" id="{94AD0D87-7379-47F8-8088-D1CC07223467}"/>
              </a:ext>
            </a:extLst>
          </p:cNvPr>
          <p:cNvGraphicFramePr>
            <a:graphicFrameLocks noGrp="1"/>
          </p:cNvGraphicFramePr>
          <p:nvPr>
            <p:ph idx="1"/>
            <p:extLst>
              <p:ext uri="{D42A27DB-BD31-4B8C-83A1-F6EECF244321}">
                <p14:modId xmlns:p14="http://schemas.microsoft.com/office/powerpoint/2010/main" val="1866173769"/>
              </p:ext>
            </p:extLst>
          </p:nvPr>
        </p:nvGraphicFramePr>
        <p:xfrm>
          <a:off x="820132" y="1825625"/>
          <a:ext cx="10385752" cy="4396189"/>
        </p:xfrm>
        <a:graphic>
          <a:graphicData uri="http://schemas.openxmlformats.org/drawingml/2006/table">
            <a:tbl>
              <a:tblPr firstRow="1" bandRow="1">
                <a:tableStyleId>{5C22544A-7EE6-4342-B048-85BDC9FD1C3A}</a:tableStyleId>
              </a:tblPr>
              <a:tblGrid>
                <a:gridCol w="2609989">
                  <a:extLst>
                    <a:ext uri="{9D8B030D-6E8A-4147-A177-3AD203B41FA5}">
                      <a16:colId xmlns:a16="http://schemas.microsoft.com/office/drawing/2014/main" val="211445039"/>
                    </a:ext>
                  </a:extLst>
                </a:gridCol>
                <a:gridCol w="2591921">
                  <a:extLst>
                    <a:ext uri="{9D8B030D-6E8A-4147-A177-3AD203B41FA5}">
                      <a16:colId xmlns:a16="http://schemas.microsoft.com/office/drawing/2014/main" val="2379671661"/>
                    </a:ext>
                  </a:extLst>
                </a:gridCol>
                <a:gridCol w="2591921">
                  <a:extLst>
                    <a:ext uri="{9D8B030D-6E8A-4147-A177-3AD203B41FA5}">
                      <a16:colId xmlns:a16="http://schemas.microsoft.com/office/drawing/2014/main" val="1466785847"/>
                    </a:ext>
                  </a:extLst>
                </a:gridCol>
                <a:gridCol w="2591921">
                  <a:extLst>
                    <a:ext uri="{9D8B030D-6E8A-4147-A177-3AD203B41FA5}">
                      <a16:colId xmlns:a16="http://schemas.microsoft.com/office/drawing/2014/main" val="1579054086"/>
                    </a:ext>
                  </a:extLst>
                </a:gridCol>
              </a:tblGrid>
              <a:tr h="830029">
                <a:tc>
                  <a:txBody>
                    <a:bodyPr/>
                    <a:lstStyle/>
                    <a:p>
                      <a:pPr algn="ctr"/>
                      <a:r>
                        <a:rPr lang="en-US" sz="2800" dirty="0"/>
                        <a:t>TITLE</a:t>
                      </a:r>
                      <a:endParaRPr lang="en-IN" sz="2800" dirty="0"/>
                    </a:p>
                  </a:txBody>
                  <a:tcPr/>
                </a:tc>
                <a:tc>
                  <a:txBody>
                    <a:bodyPr/>
                    <a:lstStyle/>
                    <a:p>
                      <a:pPr algn="ctr"/>
                      <a:r>
                        <a:rPr lang="en-US" sz="2800" dirty="0"/>
                        <a:t>YEAR</a:t>
                      </a:r>
                      <a:endParaRPr lang="en-IN" sz="2800" dirty="0"/>
                    </a:p>
                  </a:txBody>
                  <a:tcPr/>
                </a:tc>
                <a:tc>
                  <a:txBody>
                    <a:bodyPr/>
                    <a:lstStyle/>
                    <a:p>
                      <a:pPr algn="ctr"/>
                      <a:r>
                        <a:rPr lang="en-US" sz="2800" dirty="0"/>
                        <a:t>AUTHOR</a:t>
                      </a:r>
                      <a:endParaRPr lang="en-IN" sz="2800" dirty="0"/>
                    </a:p>
                  </a:txBody>
                  <a:tcPr/>
                </a:tc>
                <a:tc>
                  <a:txBody>
                    <a:bodyPr/>
                    <a:lstStyle/>
                    <a:p>
                      <a:pPr algn="ctr"/>
                      <a:r>
                        <a:rPr lang="en-US" sz="2800" dirty="0"/>
                        <a:t>TECHNIQUE</a:t>
                      </a:r>
                      <a:endParaRPr lang="en-IN" sz="2800" dirty="0"/>
                    </a:p>
                  </a:txBody>
                  <a:tcPr/>
                </a:tc>
                <a:extLst>
                  <a:ext uri="{0D108BD9-81ED-4DB2-BD59-A6C34878D82A}">
                    <a16:rowId xmlns:a16="http://schemas.microsoft.com/office/drawing/2014/main" val="2693069419"/>
                  </a:ext>
                </a:extLst>
              </a:tr>
              <a:tr h="830029">
                <a:tc>
                  <a:txBody>
                    <a:bodyPr/>
                    <a:lstStyle/>
                    <a:p>
                      <a:pPr algn="just"/>
                      <a:r>
                        <a:rPr sz="1800" dirty="0"/>
                        <a:t>Finding Shortest Path of the Ambulance Routing Using an A* Algorithm Interface</a:t>
                      </a:r>
                      <a:endParaRPr lang="en-IN" sz="1800" dirty="0"/>
                    </a:p>
                  </a:txBody>
                  <a:tcPr/>
                </a:tc>
                <a:tc>
                  <a:txBody>
                    <a:bodyPr/>
                    <a:lstStyle/>
                    <a:p>
                      <a:r>
                        <a:rPr sz="1800" dirty="0"/>
                        <a:t>2012</a:t>
                      </a:r>
                      <a:endParaRPr lang="en-IN" sz="1800" dirty="0"/>
                    </a:p>
                  </a:txBody>
                  <a:tcPr/>
                </a:tc>
                <a:tc>
                  <a:txBody>
                    <a:bodyPr/>
                    <a:lstStyle/>
                    <a:p>
                      <a:r>
                        <a:rPr sz="1800" dirty="0"/>
                        <a:t>Nordin et al.</a:t>
                      </a:r>
                      <a:endParaRPr lang="en-IN" sz="1800" dirty="0"/>
                    </a:p>
                  </a:txBody>
                  <a:tcPr/>
                </a:tc>
                <a:tc>
                  <a:txBody>
                    <a:bodyPr/>
                    <a:lstStyle/>
                    <a:p>
                      <a:r>
                        <a:rPr sz="1800" dirty="0"/>
                        <a:t>A* Search Algorithm</a:t>
                      </a:r>
                      <a:endParaRPr lang="en-IN" sz="1800" dirty="0"/>
                    </a:p>
                  </a:txBody>
                  <a:tcPr/>
                </a:tc>
                <a:extLst>
                  <a:ext uri="{0D108BD9-81ED-4DB2-BD59-A6C34878D82A}">
                    <a16:rowId xmlns:a16="http://schemas.microsoft.com/office/drawing/2014/main" val="2101231002"/>
                  </a:ext>
                </a:extLst>
              </a:tr>
              <a:tr h="830029">
                <a:tc>
                  <a:txBody>
                    <a:bodyPr/>
                    <a:lstStyle/>
                    <a:p>
                      <a:pPr algn="just"/>
                      <a:r>
                        <a:rPr lang="en-IN" dirty="0"/>
                        <a:t>A Review of Incident Prediction, Resource Allocation, and Dispatch Models for Emergency Management</a:t>
                      </a:r>
                      <a:endParaRPr lang="en-IN" sz="1800" dirty="0"/>
                    </a:p>
                  </a:txBody>
                  <a:tcPr/>
                </a:tc>
                <a:tc>
                  <a:txBody>
                    <a:bodyPr/>
                    <a:lstStyle/>
                    <a:p>
                      <a:pPr>
                        <a:buNone/>
                      </a:pPr>
                      <a:r>
                        <a:rPr lang="en-IN" dirty="0"/>
                        <a:t>2022</a:t>
                      </a:r>
                    </a:p>
                  </a:txBody>
                  <a:tcPr anchor="ctr"/>
                </a:tc>
                <a:tc>
                  <a:txBody>
                    <a:bodyPr/>
                    <a:lstStyle/>
                    <a:p>
                      <a:pPr>
                        <a:buNone/>
                      </a:pPr>
                      <a:r>
                        <a:rPr lang="en-IN" dirty="0"/>
                        <a:t>Ayan Mukhopadhyay et al.</a:t>
                      </a:r>
                    </a:p>
                  </a:txBody>
                  <a:tcPr anchor="ctr"/>
                </a:tc>
                <a:tc>
                  <a:txBody>
                    <a:bodyPr/>
                    <a:lstStyle/>
                    <a:p>
                      <a:r>
                        <a:rPr lang="en-IN" dirty="0"/>
                        <a:t>Resource Allocation and Computer-Aided Dispatch</a:t>
                      </a:r>
                      <a:endParaRPr lang="en-IN" sz="1800" dirty="0"/>
                    </a:p>
                  </a:txBody>
                  <a:tcPr/>
                </a:tc>
                <a:extLst>
                  <a:ext uri="{0D108BD9-81ED-4DB2-BD59-A6C34878D82A}">
                    <a16:rowId xmlns:a16="http://schemas.microsoft.com/office/drawing/2014/main" val="3550106974"/>
                  </a:ext>
                </a:extLst>
              </a:tr>
              <a:tr h="830029">
                <a:tc>
                  <a:txBody>
                    <a:bodyPr/>
                    <a:lstStyle/>
                    <a:p>
                      <a:pPr algn="just"/>
                      <a:r>
                        <a:rPr lang="en-US" sz="1800" dirty="0"/>
                        <a:t>Designing Decision Support Systems for Emergency Response</a:t>
                      </a:r>
                      <a:endParaRPr lang="en-IN" sz="1800" dirty="0"/>
                    </a:p>
                  </a:txBody>
                  <a:tcPr/>
                </a:tc>
                <a:tc>
                  <a:txBody>
                    <a:bodyPr/>
                    <a:lstStyle/>
                    <a:p>
                      <a:r>
                        <a:rPr sz="1800" dirty="0"/>
                        <a:t>202</a:t>
                      </a:r>
                      <a:r>
                        <a:rPr lang="en-US" sz="1800" dirty="0"/>
                        <a:t>2</a:t>
                      </a:r>
                      <a:endParaRPr lang="en-IN" sz="1800" dirty="0"/>
                    </a:p>
                  </a:txBody>
                  <a:tcPr/>
                </a:tc>
                <a:tc>
                  <a:txBody>
                    <a:bodyPr/>
                    <a:lstStyle/>
                    <a:p>
                      <a:r>
                        <a:rPr lang="en-US" sz="1800" dirty="0"/>
                        <a:t>Geoffrey Pettet et al</a:t>
                      </a:r>
                      <a:endParaRPr lang="en-IN" sz="1800" dirty="0"/>
                    </a:p>
                  </a:txBody>
                  <a:tcPr/>
                </a:tc>
                <a:tc>
                  <a:txBody>
                    <a:bodyPr/>
                    <a:lstStyle/>
                    <a:p>
                      <a:r>
                        <a:rPr sz="1800" dirty="0"/>
                        <a:t>D</a:t>
                      </a:r>
                      <a:r>
                        <a:rPr lang="en-US" sz="1800" dirty="0"/>
                        <a:t>ecision Support System</a:t>
                      </a:r>
                      <a:endParaRPr lang="en-IN" sz="1800" dirty="0"/>
                    </a:p>
                  </a:txBody>
                  <a:tcPr/>
                </a:tc>
                <a:extLst>
                  <a:ext uri="{0D108BD9-81ED-4DB2-BD59-A6C34878D82A}">
                    <a16:rowId xmlns:a16="http://schemas.microsoft.com/office/drawing/2014/main" val="2759713615"/>
                  </a:ext>
                </a:extLst>
              </a:tr>
            </a:tbl>
          </a:graphicData>
        </a:graphic>
      </p:graphicFrame>
      <p:sp>
        <p:nvSpPr>
          <p:cNvPr id="5" name="Footer Placeholder 4">
            <a:extLst>
              <a:ext uri="{FF2B5EF4-FFF2-40B4-BE49-F238E27FC236}">
                <a16:creationId xmlns:a16="http://schemas.microsoft.com/office/drawing/2014/main" id="{1B883424-B635-4198-810C-92D50E39AF1D}"/>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1808432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4C7A-54D8-44AC-8481-E79F9A0AB8BB}"/>
              </a:ext>
            </a:extLst>
          </p:cNvPr>
          <p:cNvSpPr>
            <a:spLocks noGrp="1"/>
          </p:cNvSpPr>
          <p:nvPr>
            <p:ph type="title"/>
          </p:nvPr>
        </p:nvSpPr>
        <p:spPr/>
        <p:txBody>
          <a:bodyPr/>
          <a:lstStyle/>
          <a:p>
            <a:pPr algn="ctr"/>
            <a:r>
              <a:rPr lang="en-US" b="1" dirty="0">
                <a:solidFill>
                  <a:schemeClr val="accent1">
                    <a:lumMod val="50000"/>
                  </a:schemeClr>
                </a:solidFill>
              </a:rPr>
              <a:t>EXISTING SYSTEM</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1CB5B631-2B4C-4BA3-8942-6B33D4775DF9}"/>
              </a:ext>
            </a:extLst>
          </p:cNvPr>
          <p:cNvSpPr>
            <a:spLocks noGrp="1"/>
          </p:cNvSpPr>
          <p:nvPr>
            <p:ph idx="1"/>
          </p:nvPr>
        </p:nvSpPr>
        <p:spPr/>
        <p:txBody>
          <a:bodyPr>
            <a:normAutofit/>
          </a:bodyPr>
          <a:lstStyle/>
          <a:p>
            <a:r>
              <a:rPr sz="2000" b="0" dirty="0">
                <a:latin typeface="Times New Roman" panose="02020603050405020304" pitchFamily="18" charset="0"/>
                <a:cs typeface="Times New Roman" panose="02020603050405020304" pitchFamily="18" charset="0"/>
              </a:rPr>
              <a:t>Manual, operator-driven dispatch causes delays during high call volumes.</a:t>
            </a:r>
            <a:endParaRPr lang="en-IN" sz="2000" dirty="0">
              <a:latin typeface="Times New Roman" panose="02020603050405020304" pitchFamily="18" charset="0"/>
              <a:cs typeface="Times New Roman" panose="02020603050405020304" pitchFamily="18" charset="0"/>
            </a:endParaRPr>
          </a:p>
          <a:p>
            <a:r>
              <a:rPr sz="2000" b="0" dirty="0">
                <a:latin typeface="Times New Roman" panose="02020603050405020304" pitchFamily="18" charset="0"/>
                <a:cs typeface="Times New Roman" panose="02020603050405020304" pitchFamily="18" charset="0"/>
              </a:rPr>
              <a:t>No systematic prioritization of emergencies by severity level.</a:t>
            </a:r>
          </a:p>
          <a:p>
            <a:r>
              <a:rPr sz="2000" b="0" dirty="0">
                <a:latin typeface="Times New Roman" panose="02020603050405020304" pitchFamily="18" charset="0"/>
                <a:cs typeface="Times New Roman" panose="02020603050405020304" pitchFamily="18" charset="0"/>
              </a:rPr>
              <a:t>Resource allocation depends on operator judgement, leading to inconsistent decisions.</a:t>
            </a:r>
          </a:p>
          <a:p>
            <a:r>
              <a:rPr sz="2000" b="0" dirty="0">
                <a:latin typeface="Times New Roman" panose="02020603050405020304" pitchFamily="18" charset="0"/>
                <a:cs typeface="Times New Roman" panose="02020603050405020304" pitchFamily="18" charset="0"/>
              </a:rPr>
              <a:t>No automated shortest-route computation; drivers rely on personal road knowledge.</a:t>
            </a:r>
          </a:p>
          <a:p>
            <a:r>
              <a:rPr sz="2000" b="0" dirty="0">
                <a:latin typeface="Times New Roman" panose="02020603050405020304" pitchFamily="18" charset="0"/>
                <a:cs typeface="Times New Roman" panose="02020603050405020304" pitchFamily="18" charset="0"/>
              </a:rPr>
              <a:t>Limited real-time visibility of resource availability, so busy resources are sometimes assigned.</a:t>
            </a:r>
          </a:p>
          <a:p>
            <a:r>
              <a:rPr sz="2000" b="0" dirty="0">
                <a:latin typeface="Times New Roman" panose="02020603050405020304" pitchFamily="18" charset="0"/>
                <a:cs typeface="Times New Roman" panose="02020603050405020304" pitchFamily="18" charset="0"/>
              </a:rPr>
              <a:t>Road status/closures are </a:t>
            </a:r>
            <a:r>
              <a:rPr lang="en-IN" sz="2000" b="0" dirty="0">
                <a:latin typeface="Times New Roman" panose="02020603050405020304" pitchFamily="18" charset="0"/>
                <a:cs typeface="Times New Roman" panose="02020603050405020304" pitchFamily="18" charset="0"/>
              </a:rPr>
              <a:t>not</a:t>
            </a:r>
            <a:r>
              <a:rPr sz="2000" b="0" dirty="0">
                <a:latin typeface="Times New Roman" panose="02020603050405020304" pitchFamily="18" charset="0"/>
                <a:cs typeface="Times New Roman" panose="02020603050405020304" pitchFamily="18" charset="0"/>
              </a:rPr>
              <a:t> factored into routing decisions.</a:t>
            </a:r>
          </a:p>
          <a:p>
            <a:r>
              <a:rPr sz="2000" b="0" dirty="0">
                <a:latin typeface="Times New Roman" panose="02020603050405020304" pitchFamily="18" charset="0"/>
                <a:cs typeface="Times New Roman" panose="02020603050405020304" pitchFamily="18" charset="0"/>
              </a:rPr>
              <a:t>No explanation or audit trail is provided for a dispatch decision.</a:t>
            </a:r>
          </a:p>
        </p:txBody>
      </p:sp>
      <p:sp>
        <p:nvSpPr>
          <p:cNvPr id="4" name="Footer Placeholder 3">
            <a:extLst>
              <a:ext uri="{FF2B5EF4-FFF2-40B4-BE49-F238E27FC236}">
                <a16:creationId xmlns:a16="http://schemas.microsoft.com/office/drawing/2014/main" id="{9E2DA2FF-5972-46F4-AABC-25976B756840}"/>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262058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2F28B-DC07-4D8C-925B-B394652D503D}"/>
              </a:ext>
            </a:extLst>
          </p:cNvPr>
          <p:cNvSpPr>
            <a:spLocks noGrp="1"/>
          </p:cNvSpPr>
          <p:nvPr>
            <p:ph type="title"/>
          </p:nvPr>
        </p:nvSpPr>
        <p:spPr/>
        <p:txBody>
          <a:bodyPr/>
          <a:lstStyle/>
          <a:p>
            <a:pPr algn="ctr"/>
            <a:r>
              <a:rPr lang="en-US" b="1" dirty="0">
                <a:solidFill>
                  <a:schemeClr val="accent1">
                    <a:lumMod val="50000"/>
                  </a:schemeClr>
                </a:solidFill>
              </a:rPr>
              <a:t>PROPOSED SYSTEM</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BCA172C8-9EE9-4B51-8A7A-63583EB3DAEF}"/>
              </a:ext>
            </a:extLst>
          </p:cNvPr>
          <p:cNvSpPr>
            <a:spLocks noGrp="1"/>
          </p:cNvSpPr>
          <p:nvPr>
            <p:ph idx="1"/>
          </p:nvPr>
        </p:nvSpPr>
        <p:spPr/>
        <p:txBody>
          <a:bodyPr>
            <a:normAutofit/>
          </a:bodyPr>
          <a:lstStyle/>
          <a:p>
            <a:pPr marL="0" indent="0">
              <a:buNone/>
            </a:pPr>
            <a:r>
              <a:rPr sz="2000" b="1" dirty="0">
                <a:latin typeface="Times New Roman" panose="02020603050405020304" pitchFamily="18" charset="0"/>
                <a:cs typeface="Times New Roman" panose="02020603050405020304" pitchFamily="18" charset="0"/>
              </a:rPr>
              <a:t>System Architecture</a:t>
            </a:r>
            <a:endParaRPr lang="en-IN" sz="2000" dirty="0">
              <a:latin typeface="Times New Roman" panose="02020603050405020304" pitchFamily="18" charset="0"/>
              <a:cs typeface="Times New Roman" panose="02020603050405020304" pitchFamily="18" charset="0"/>
            </a:endParaRPr>
          </a:p>
          <a:p>
            <a:pPr marL="457200" lvl="1" indent="0">
              <a:buNone/>
            </a:pPr>
            <a:r>
              <a:rPr sz="2000" b="0" dirty="0">
                <a:latin typeface="Times New Roman" panose="02020603050405020304" pitchFamily="18" charset="0"/>
                <a:cs typeface="Times New Roman" panose="02020603050405020304" pitchFamily="18" charset="0"/>
              </a:rPr>
              <a:t>Rational intelligent agent perceives emergency type, location and priority level.</a:t>
            </a:r>
          </a:p>
          <a:p>
            <a:pPr marL="457200" lvl="1" indent="0">
              <a:buNone/>
            </a:pPr>
            <a:r>
              <a:rPr sz="2000" b="0" dirty="0">
                <a:latin typeface="Times New Roman" panose="02020603050405020304" pitchFamily="18" charset="0"/>
                <a:cs typeface="Times New Roman" panose="02020603050405020304" pitchFamily="18" charset="0"/>
              </a:rPr>
              <a:t>Knowledge-based rules select the most suitable resource (ambulance / fire truck / police vehicle).</a:t>
            </a:r>
          </a:p>
          <a:p>
            <a:pPr marL="457200" lvl="1" indent="0">
              <a:buNone/>
            </a:pPr>
            <a:r>
              <a:rPr sz="2000" b="0" dirty="0">
                <a:latin typeface="Times New Roman" panose="02020603050405020304" pitchFamily="18" charset="0"/>
                <a:cs typeface="Times New Roman" panose="02020603050405020304" pitchFamily="18" charset="0"/>
              </a:rPr>
              <a:t>A* search algorithm computes the shortest feasible route on a predefined city-map graph.</a:t>
            </a:r>
          </a:p>
          <a:p>
            <a:pPr marL="457200" lvl="1" indent="0">
              <a:buNone/>
            </a:pPr>
            <a:r>
              <a:rPr sz="2000" b="0" dirty="0">
                <a:latin typeface="Times New Roman" panose="02020603050405020304" pitchFamily="18" charset="0"/>
                <a:cs typeface="Times New Roman" panose="02020603050405020304" pitchFamily="18" charset="0"/>
              </a:rPr>
              <a:t>Resource availability and road status are checked to avoid invalid assignments.</a:t>
            </a:r>
          </a:p>
          <a:p>
            <a:pPr marL="457200" lvl="1" indent="0">
              <a:buNone/>
            </a:pPr>
            <a:r>
              <a:rPr sz="2000" b="0" dirty="0">
                <a:latin typeface="Times New Roman" panose="02020603050405020304" pitchFamily="18" charset="0"/>
                <a:cs typeface="Times New Roman" panose="02020603050405020304" pitchFamily="18" charset="0"/>
              </a:rPr>
              <a:t>Output: allocation decision + optimal route + explanation for the decision.</a:t>
            </a:r>
          </a:p>
          <a:p>
            <a:pPr marL="457200" lvl="1" indent="0">
              <a:buNone/>
            </a:pPr>
            <a:r>
              <a:rPr sz="2000" b="0" dirty="0">
                <a:latin typeface="Times New Roman" panose="02020603050405020304" pitchFamily="18" charset="0"/>
                <a:cs typeface="Times New Roman" panose="02020603050405020304" pitchFamily="18" charset="0"/>
              </a:rPr>
              <a:t>Prototype implemented using Python and Flask.</a:t>
            </a:r>
          </a:p>
          <a:p>
            <a:pPr marL="0" indent="0">
              <a:buNone/>
            </a:pPr>
            <a:r>
              <a:rPr sz="2000" b="1" dirty="0">
                <a:latin typeface="Times New Roman" panose="02020603050405020304" pitchFamily="18" charset="0"/>
                <a:cs typeface="Times New Roman" panose="02020603050405020304" pitchFamily="18" charset="0"/>
              </a:rPr>
              <a:t>Algorithms </a:t>
            </a:r>
          </a:p>
          <a:p>
            <a:pPr marL="457200" lvl="1" indent="0">
              <a:buNone/>
            </a:pPr>
            <a:r>
              <a:rPr sz="2000" b="0" dirty="0">
                <a:latin typeface="Times New Roman" panose="02020603050405020304" pitchFamily="18" charset="0"/>
                <a:cs typeface="Times New Roman" panose="02020603050405020304" pitchFamily="18" charset="0"/>
              </a:rPr>
              <a:t>Intelligent Agent</a:t>
            </a:r>
          </a:p>
          <a:p>
            <a:pPr marL="457200" lvl="1" indent="0">
              <a:buNone/>
            </a:pPr>
            <a:r>
              <a:rPr sz="2000" b="0" dirty="0">
                <a:latin typeface="Times New Roman" panose="02020603050405020304" pitchFamily="18" charset="0"/>
                <a:cs typeface="Times New Roman" panose="02020603050405020304" pitchFamily="18" charset="0"/>
              </a:rPr>
              <a:t> A</a:t>
            </a:r>
            <a:r>
              <a:rPr lang="en-US" sz="2000" b="0" dirty="0">
                <a:latin typeface="Times New Roman" panose="02020603050405020304" pitchFamily="18" charset="0"/>
                <a:cs typeface="Times New Roman" panose="02020603050405020304" pitchFamily="18" charset="0"/>
              </a:rPr>
              <a:t>*</a:t>
            </a:r>
            <a:r>
              <a:rPr sz="2000" b="0" dirty="0">
                <a:latin typeface="Times New Roman" panose="02020603050405020304" pitchFamily="18" charset="0"/>
                <a:cs typeface="Times New Roman" panose="02020603050405020304" pitchFamily="18" charset="0"/>
              </a:rPr>
              <a:t> Search Algorithm (Heuristic Search)</a:t>
            </a:r>
          </a:p>
          <a:p>
            <a:pPr marL="457200" lvl="1" indent="0">
              <a:buNone/>
            </a:pPr>
            <a:r>
              <a:rPr sz="2000" b="0" dirty="0">
                <a:latin typeface="Times New Roman" panose="02020603050405020304" pitchFamily="18" charset="0"/>
                <a:cs typeface="Times New Roman" panose="02020603050405020304" pitchFamily="18" charset="0"/>
              </a:rPr>
              <a:t> Knowledge-Based Rules for resource selection</a:t>
            </a:r>
          </a:p>
        </p:txBody>
      </p:sp>
      <p:sp>
        <p:nvSpPr>
          <p:cNvPr id="4" name="Footer Placeholder 3">
            <a:extLst>
              <a:ext uri="{FF2B5EF4-FFF2-40B4-BE49-F238E27FC236}">
                <a16:creationId xmlns:a16="http://schemas.microsoft.com/office/drawing/2014/main" id="{5255CFC0-E255-4A4E-B66F-160696CEF4E8}"/>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85456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D9B68-97AE-4226-8DFD-BC9913C5FEFB}"/>
              </a:ext>
            </a:extLst>
          </p:cNvPr>
          <p:cNvSpPr>
            <a:spLocks noGrp="1"/>
          </p:cNvSpPr>
          <p:nvPr>
            <p:ph type="title"/>
          </p:nvPr>
        </p:nvSpPr>
        <p:spPr/>
        <p:txBody>
          <a:bodyPr/>
          <a:lstStyle/>
          <a:p>
            <a:pPr algn="ctr"/>
            <a:r>
              <a:rPr lang="en-US" spc="-1" dirty="0">
                <a:solidFill>
                  <a:schemeClr val="accent1">
                    <a:lumMod val="50000"/>
                  </a:schemeClr>
                </a:solidFill>
                <a:latin typeface="Times New Roman"/>
              </a:rPr>
              <a:t>Novelty in Proposed System</a:t>
            </a:r>
            <a:endParaRPr lang="en-IN" dirty="0">
              <a:solidFill>
                <a:schemeClr val="accent1">
                  <a:lumMod val="50000"/>
                </a:schemeClr>
              </a:solidFill>
            </a:endParaRPr>
          </a:p>
        </p:txBody>
      </p:sp>
      <p:sp>
        <p:nvSpPr>
          <p:cNvPr id="3" name="Content Placeholder 2">
            <a:extLst>
              <a:ext uri="{FF2B5EF4-FFF2-40B4-BE49-F238E27FC236}">
                <a16:creationId xmlns:a16="http://schemas.microsoft.com/office/drawing/2014/main" id="{37167FFA-CAE8-419B-8A9F-2AE13407034A}"/>
              </a:ext>
            </a:extLst>
          </p:cNvPr>
          <p:cNvSpPr>
            <a:spLocks noGrp="1"/>
          </p:cNvSpPr>
          <p:nvPr>
            <p:ph idx="1"/>
          </p:nvPr>
        </p:nvSpPr>
        <p:spPr/>
        <p:txBody>
          <a:bodyPr>
            <a:normAutofit/>
          </a:bodyPr>
          <a:lstStyle/>
          <a:p>
            <a:pPr lvl="0"/>
            <a:r>
              <a:rPr lang="en-IN" sz="2000" b="1" dirty="0">
                <a:latin typeface="Times New Roman" panose="02020603050405020304" pitchFamily="18" charset="0"/>
                <a:cs typeface="Times New Roman" panose="02020603050405020304" pitchFamily="18" charset="0"/>
              </a:rPr>
              <a:t>Uses Classical AI instead of Machine Learning</a:t>
            </a:r>
            <a:r>
              <a:rPr lang="en-IN" sz="2000" dirty="0">
                <a:latin typeface="Times New Roman" panose="02020603050405020304" pitchFamily="18" charset="0"/>
                <a:cs typeface="Times New Roman" panose="02020603050405020304" pitchFamily="18" charset="0"/>
              </a:rPr>
              <a:t>, making the system simple, explainable, and reliable. </a:t>
            </a: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Knowledge-Based Reasoning</a:t>
            </a:r>
            <a:r>
              <a:rPr lang="en-IN" sz="2000" dirty="0">
                <a:latin typeface="Times New Roman" panose="02020603050405020304" pitchFamily="18" charset="0"/>
                <a:cs typeface="Times New Roman" panose="02020603050405020304" pitchFamily="18" charset="0"/>
              </a:rPr>
              <a:t> intelligently selects the most suitable emergency resource based on emergency type, priority, and location. </a:t>
            </a: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Intelligent Resource Allocation</a:t>
            </a:r>
            <a:r>
              <a:rPr lang="en-IN" sz="2000" dirty="0">
                <a:latin typeface="Times New Roman" panose="02020603050405020304" pitchFamily="18" charset="0"/>
                <a:cs typeface="Times New Roman" panose="02020603050405020304" pitchFamily="18" charset="0"/>
              </a:rPr>
              <a:t> considers both resource availability and emergency priority before assignment. </a:t>
            </a:r>
          </a:p>
          <a:p>
            <a:pPr lvl="0"/>
            <a:r>
              <a:rPr lang="en-IN" sz="2000" b="1" dirty="0">
                <a:latin typeface="Times New Roman" panose="02020603050405020304" pitchFamily="18" charset="0"/>
                <a:cs typeface="Times New Roman" panose="02020603050405020304" pitchFamily="18" charset="0"/>
              </a:rPr>
              <a:t>A* Search Algorithm</a:t>
            </a:r>
            <a:r>
              <a:rPr lang="en-IN" sz="2000" dirty="0">
                <a:latin typeface="Times New Roman" panose="02020603050405020304" pitchFamily="18" charset="0"/>
                <a:cs typeface="Times New Roman" panose="02020603050405020304" pitchFamily="18" charset="0"/>
              </a:rPr>
              <a:t> identifies the shortest and fastest route, reducing response time. </a:t>
            </a: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Automated Decision-Making</a:t>
            </a:r>
            <a:r>
              <a:rPr lang="en-IN" sz="2000" dirty="0">
                <a:latin typeface="Times New Roman" panose="02020603050405020304" pitchFamily="18" charset="0"/>
                <a:cs typeface="Times New Roman" panose="02020603050405020304" pitchFamily="18" charset="0"/>
              </a:rPr>
              <a:t> minimizes human intervention and reduces manual errors. </a:t>
            </a:r>
          </a:p>
          <a:p>
            <a:pPr lvl="0"/>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Improves emergency response efficiency</a:t>
            </a:r>
            <a:r>
              <a:rPr lang="en-IN" sz="2000" dirty="0">
                <a:latin typeface="Times New Roman" panose="02020603050405020304" pitchFamily="18" charset="0"/>
                <a:cs typeface="Times New Roman" panose="02020603050405020304" pitchFamily="18" charset="0"/>
              </a:rPr>
              <a:t> through logical, consistent, and optimized resource allocation.</a:t>
            </a:r>
          </a:p>
          <a:p>
            <a:endParaRPr sz="2000" b="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69D1BA5-F138-46F4-BDD0-6FDDA78C082C}"/>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503244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72CB-375E-42B3-BAD3-3348ABA4F8F5}"/>
              </a:ext>
            </a:extLst>
          </p:cNvPr>
          <p:cNvSpPr>
            <a:spLocks noGrp="1"/>
          </p:cNvSpPr>
          <p:nvPr>
            <p:ph type="title"/>
          </p:nvPr>
        </p:nvSpPr>
        <p:spPr/>
        <p:txBody>
          <a:bodyPr/>
          <a:lstStyle/>
          <a:p>
            <a:pPr algn="ctr"/>
            <a:r>
              <a:rPr lang="en-US" b="1" dirty="0">
                <a:solidFill>
                  <a:schemeClr val="accent1">
                    <a:lumMod val="50000"/>
                  </a:schemeClr>
                </a:solidFill>
              </a:rPr>
              <a:t>BLOCK DIAGRAM(PROPOSED SYSTEM)</a:t>
            </a:r>
            <a:endParaRPr lang="en-IN" b="1" dirty="0">
              <a:solidFill>
                <a:schemeClr val="accent1">
                  <a:lumMod val="50000"/>
                </a:schemeClr>
              </a:solidFill>
            </a:endParaRPr>
          </a:p>
        </p:txBody>
      </p:sp>
      <p:sp>
        <p:nvSpPr>
          <p:cNvPr id="4" name="Footer Placeholder 3">
            <a:extLst>
              <a:ext uri="{FF2B5EF4-FFF2-40B4-BE49-F238E27FC236}">
                <a16:creationId xmlns:a16="http://schemas.microsoft.com/office/drawing/2014/main" id="{93D343F2-D48F-4E59-8D97-DA60556C44C7}"/>
              </a:ext>
            </a:extLst>
          </p:cNvPr>
          <p:cNvSpPr>
            <a:spLocks noGrp="1"/>
          </p:cNvSpPr>
          <p:nvPr>
            <p:ph type="ftr" sz="quarter" idx="11"/>
          </p:nvPr>
        </p:nvSpPr>
        <p:spPr/>
        <p:txBody>
          <a:bodyPr/>
          <a:lstStyle/>
          <a:p>
            <a:r>
              <a:rPr lang="en-US"/>
              <a:t>Rajalakshmi Engineering College,Department of Cyber Security</a:t>
            </a:r>
            <a:endParaRPr lang="en-IN"/>
          </a:p>
        </p:txBody>
      </p:sp>
      <p:pic>
        <p:nvPicPr>
          <p:cNvPr id="5" name="Picture 4">
            <a:extLst>
              <a:ext uri="{FF2B5EF4-FFF2-40B4-BE49-F238E27FC236}">
                <a16:creationId xmlns:a16="http://schemas.microsoft.com/office/drawing/2014/main" id="{B5EC0DCE-DBFE-761F-866A-B75C08B1B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1194954"/>
            <a:ext cx="10287000" cy="5297921"/>
          </a:xfrm>
          <a:prstGeom prst="rect">
            <a:avLst/>
          </a:prstGeom>
        </p:spPr>
      </p:pic>
    </p:spTree>
    <p:extLst>
      <p:ext uri="{BB962C8B-B14F-4D97-AF65-F5344CB8AC3E}">
        <p14:creationId xmlns:p14="http://schemas.microsoft.com/office/powerpoint/2010/main" val="2353434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CEDF5-B9F7-4B91-858D-BB211B1C5149}"/>
              </a:ext>
            </a:extLst>
          </p:cNvPr>
          <p:cNvSpPr>
            <a:spLocks noGrp="1"/>
          </p:cNvSpPr>
          <p:nvPr>
            <p:ph type="title"/>
          </p:nvPr>
        </p:nvSpPr>
        <p:spPr/>
        <p:txBody>
          <a:bodyPr/>
          <a:lstStyle/>
          <a:p>
            <a:pPr algn="ctr"/>
            <a:r>
              <a:rPr lang="en-US" b="1" dirty="0">
                <a:solidFill>
                  <a:schemeClr val="accent1">
                    <a:lumMod val="50000"/>
                  </a:schemeClr>
                </a:solidFill>
              </a:rPr>
              <a:t>Hardware/Software Requirements</a:t>
            </a:r>
            <a:endParaRPr lang="en-IN" b="1" dirty="0">
              <a:solidFill>
                <a:schemeClr val="accent1">
                  <a:lumMod val="50000"/>
                </a:schemeClr>
              </a:solidFill>
            </a:endParaRPr>
          </a:p>
        </p:txBody>
      </p:sp>
      <p:sp>
        <p:nvSpPr>
          <p:cNvPr id="3" name="Content Placeholder 2">
            <a:extLst>
              <a:ext uri="{FF2B5EF4-FFF2-40B4-BE49-F238E27FC236}">
                <a16:creationId xmlns:a16="http://schemas.microsoft.com/office/drawing/2014/main" id="{51030061-1822-407B-A876-DADB7600B190}"/>
              </a:ext>
            </a:extLst>
          </p:cNvPr>
          <p:cNvSpPr>
            <a:spLocks noGrp="1"/>
          </p:cNvSpPr>
          <p:nvPr>
            <p:ph idx="1"/>
          </p:nvPr>
        </p:nvSpPr>
        <p:spPr>
          <a:xfrm>
            <a:off x="838200" y="1402772"/>
            <a:ext cx="10515600" cy="4953577"/>
          </a:xfrm>
        </p:spPr>
        <p:txBody>
          <a:bodyPr>
            <a:normAutofit fontScale="25000" lnSpcReduction="20000"/>
          </a:bodyPr>
          <a:lstStyle/>
          <a:p>
            <a:pPr marL="0" indent="0">
              <a:buNone/>
            </a:pPr>
            <a:r>
              <a:rPr sz="7200" b="1" dirty="0">
                <a:latin typeface="Times New Roman" panose="02020603050405020304" pitchFamily="18" charset="0"/>
                <a:cs typeface="Times New Roman" panose="02020603050405020304" pitchFamily="18" charset="0"/>
              </a:rPr>
              <a:t>Hardware Requirement:</a:t>
            </a:r>
          </a:p>
          <a:p>
            <a:pPr lvl="0">
              <a:lnSpc>
                <a:spcPct val="120000"/>
              </a:lnSpc>
            </a:pPr>
            <a:r>
              <a:rPr lang="en-IN" sz="6000" dirty="0">
                <a:latin typeface="Times New Roman" panose="02020603050405020304" pitchFamily="18" charset="0"/>
                <a:cs typeface="Times New Roman" panose="02020603050405020304" pitchFamily="18" charset="0"/>
              </a:rPr>
              <a:t>Intel Core i3 or above </a:t>
            </a:r>
          </a:p>
          <a:p>
            <a:pPr lvl="0">
              <a:lnSpc>
                <a:spcPct val="120000"/>
              </a:lnSpc>
            </a:pPr>
            <a:r>
              <a:rPr lang="en-IN" sz="6000" dirty="0">
                <a:latin typeface="Times New Roman" panose="02020603050405020304" pitchFamily="18" charset="0"/>
                <a:cs typeface="Times New Roman" panose="02020603050405020304" pitchFamily="18" charset="0"/>
              </a:rPr>
              <a:t>4 GB RAM </a:t>
            </a:r>
          </a:p>
          <a:p>
            <a:pPr lvl="0">
              <a:lnSpc>
                <a:spcPct val="120000"/>
              </a:lnSpc>
            </a:pPr>
            <a:r>
              <a:rPr lang="en-IN" sz="6000" dirty="0">
                <a:latin typeface="Times New Roman" panose="02020603050405020304" pitchFamily="18" charset="0"/>
                <a:cs typeface="Times New Roman" panose="02020603050405020304" pitchFamily="18" charset="0"/>
              </a:rPr>
              <a:t>10 GB free storage </a:t>
            </a:r>
          </a:p>
          <a:p>
            <a:pPr lvl="0">
              <a:lnSpc>
                <a:spcPct val="120000"/>
              </a:lnSpc>
            </a:pPr>
            <a:r>
              <a:rPr lang="en-IN" sz="6000" dirty="0">
                <a:latin typeface="Times New Roman" panose="02020603050405020304" pitchFamily="18" charset="0"/>
                <a:cs typeface="Times New Roman" panose="02020603050405020304" pitchFamily="18" charset="0"/>
              </a:rPr>
              <a:t>Laptop/Desktop </a:t>
            </a:r>
          </a:p>
          <a:p>
            <a:pPr lvl="0">
              <a:lnSpc>
                <a:spcPct val="120000"/>
              </a:lnSpc>
            </a:pPr>
            <a:r>
              <a:rPr lang="en-IN" sz="6000" dirty="0">
                <a:latin typeface="Times New Roman" panose="02020603050405020304" pitchFamily="18" charset="0"/>
                <a:cs typeface="Times New Roman" panose="02020603050405020304" pitchFamily="18" charset="0"/>
              </a:rPr>
              <a:t>Internet &amp; GPS/Location access</a:t>
            </a:r>
          </a:p>
          <a:p>
            <a:pPr marL="0" indent="0">
              <a:buNone/>
            </a:pPr>
            <a:r>
              <a:rPr lang="en-IN" sz="7200" b="1" dirty="0">
                <a:latin typeface="Times New Roman" panose="02020603050405020304" pitchFamily="18" charset="0"/>
                <a:cs typeface="Times New Roman" panose="02020603050405020304" pitchFamily="18" charset="0"/>
              </a:rPr>
              <a:t>Software Requirement:</a:t>
            </a:r>
          </a:p>
          <a:p>
            <a:r>
              <a:rPr lang="en-IN" sz="6000" dirty="0"/>
              <a:t>Windows 10/11 </a:t>
            </a:r>
          </a:p>
          <a:p>
            <a:pPr lvl="0"/>
            <a:r>
              <a:rPr lang="en-IN" sz="6000" dirty="0"/>
              <a:t>Python 3.x </a:t>
            </a:r>
          </a:p>
          <a:p>
            <a:pPr lvl="0"/>
            <a:r>
              <a:rPr lang="en-IN" sz="6000" dirty="0"/>
              <a:t>Flask </a:t>
            </a:r>
          </a:p>
          <a:p>
            <a:pPr lvl="0"/>
            <a:r>
              <a:rPr lang="en-IN" sz="6000" dirty="0" err="1"/>
              <a:t>NetworkX</a:t>
            </a:r>
            <a:r>
              <a:rPr lang="en-IN" sz="6000" dirty="0"/>
              <a:t> </a:t>
            </a:r>
          </a:p>
          <a:p>
            <a:pPr lvl="0"/>
            <a:r>
              <a:rPr lang="en-IN" sz="6000" dirty="0" err="1"/>
              <a:t>OSMnx</a:t>
            </a:r>
            <a:r>
              <a:rPr lang="en-IN" sz="6000" dirty="0"/>
              <a:t> </a:t>
            </a:r>
          </a:p>
          <a:p>
            <a:pPr lvl="0"/>
            <a:r>
              <a:rPr lang="en-IN" sz="6000" dirty="0"/>
              <a:t>Leaflet.js </a:t>
            </a:r>
          </a:p>
          <a:p>
            <a:pPr lvl="0"/>
            <a:r>
              <a:rPr lang="en-IN" sz="6000" dirty="0"/>
              <a:t>OpenStreetMap </a:t>
            </a:r>
          </a:p>
          <a:p>
            <a:pPr lvl="0"/>
            <a:r>
              <a:rPr lang="en-IN" sz="6000" dirty="0"/>
              <a:t>HTML, CSS, JavaScript </a:t>
            </a:r>
          </a:p>
          <a:p>
            <a:pPr lvl="0"/>
            <a:r>
              <a:rPr lang="en-IN" sz="6000" dirty="0"/>
              <a:t>VS Code </a:t>
            </a:r>
          </a:p>
          <a:p>
            <a:pPr lvl="0"/>
            <a:r>
              <a:rPr lang="en-IN" sz="6000" dirty="0"/>
              <a:t>Chrome/Edge/Firefox</a:t>
            </a:r>
            <a:endParaRPr lang="en-IN" sz="6000" dirty="0">
              <a:latin typeface="Times New Roman" panose="02020603050405020304" pitchFamily="18" charset="0"/>
              <a:cs typeface="Times New Roman" panose="02020603050405020304" pitchFamily="18" charset="0"/>
            </a:endParaRPr>
          </a:p>
          <a:p>
            <a:endParaRPr sz="19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EDB36B0-5247-44F3-9298-2B524976B6D3}"/>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3081286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855B-EB5E-4D53-95D3-8E1DF5D65A1F}"/>
              </a:ext>
            </a:extLst>
          </p:cNvPr>
          <p:cNvSpPr>
            <a:spLocks noGrp="1"/>
          </p:cNvSpPr>
          <p:nvPr>
            <p:ph type="title"/>
          </p:nvPr>
        </p:nvSpPr>
        <p:spPr/>
        <p:txBody>
          <a:bodyPr/>
          <a:lstStyle/>
          <a:p>
            <a:pPr algn="ctr"/>
            <a:r>
              <a:rPr lang="en-US" spc="-1" dirty="0">
                <a:solidFill>
                  <a:schemeClr val="accent1">
                    <a:lumMod val="50000"/>
                  </a:schemeClr>
                </a:solidFill>
                <a:latin typeface="Times New Roman"/>
              </a:rPr>
              <a:t>References</a:t>
            </a:r>
            <a:endParaRPr lang="en-IN" dirty="0">
              <a:solidFill>
                <a:schemeClr val="accent1">
                  <a:lumMod val="50000"/>
                </a:schemeClr>
              </a:solidFill>
            </a:endParaRPr>
          </a:p>
        </p:txBody>
      </p:sp>
      <p:sp>
        <p:nvSpPr>
          <p:cNvPr id="3" name="Content Placeholder 2">
            <a:extLst>
              <a:ext uri="{FF2B5EF4-FFF2-40B4-BE49-F238E27FC236}">
                <a16:creationId xmlns:a16="http://schemas.microsoft.com/office/drawing/2014/main" id="{C549F23D-2C1E-4B8F-BC11-10828DB19119}"/>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N. A. M. Nordin, Z. A. </a:t>
            </a:r>
            <a:r>
              <a:rPr lang="en-IN" sz="2000" dirty="0" err="1">
                <a:latin typeface="Times New Roman" panose="02020603050405020304" pitchFamily="18" charset="0"/>
                <a:cs typeface="Times New Roman" panose="02020603050405020304" pitchFamily="18" charset="0"/>
              </a:rPr>
              <a:t>Zaharudin</a:t>
            </a:r>
            <a:r>
              <a:rPr lang="en-IN" sz="2000" dirty="0">
                <a:latin typeface="Times New Roman" panose="02020603050405020304" pitchFamily="18" charset="0"/>
                <a:cs typeface="Times New Roman" panose="02020603050405020304" pitchFamily="18" charset="0"/>
              </a:rPr>
              <a:t>, M. A. </a:t>
            </a:r>
            <a:r>
              <a:rPr lang="en-IN" sz="2000" dirty="0" err="1">
                <a:latin typeface="Times New Roman" panose="02020603050405020304" pitchFamily="18" charset="0"/>
                <a:cs typeface="Times New Roman" panose="02020603050405020304" pitchFamily="18" charset="0"/>
              </a:rPr>
              <a:t>Maasar</a:t>
            </a:r>
            <a:r>
              <a:rPr lang="en-IN" sz="2000" dirty="0">
                <a:latin typeface="Times New Roman" panose="02020603050405020304" pitchFamily="18" charset="0"/>
                <a:cs typeface="Times New Roman" panose="02020603050405020304" pitchFamily="18" charset="0"/>
              </a:rPr>
              <a:t>, and N. A. Nordin, </a:t>
            </a:r>
            <a:r>
              <a:rPr lang="en-IN" sz="2000" i="1" dirty="0">
                <a:latin typeface="Times New Roman" panose="02020603050405020304" pitchFamily="18" charset="0"/>
                <a:cs typeface="Times New Roman" panose="02020603050405020304" pitchFamily="18" charset="0"/>
              </a:rPr>
              <a:t>"Finding Shortest Path of the Ambulance Routing: Interface of A Algorithm Using C# Programming,"</a:t>
            </a:r>
            <a:r>
              <a:rPr lang="en-IN" sz="2000" dirty="0">
                <a:latin typeface="Times New Roman" panose="02020603050405020304" pitchFamily="18" charset="0"/>
                <a:cs typeface="Times New Roman" panose="02020603050405020304" pitchFamily="18" charset="0"/>
              </a:rPr>
              <a:t>* in </a:t>
            </a:r>
            <a:r>
              <a:rPr lang="en-IN" sz="2000" i="1" dirty="0">
                <a:latin typeface="Times New Roman" panose="02020603050405020304" pitchFamily="18" charset="0"/>
                <a:cs typeface="Times New Roman" panose="02020603050405020304" pitchFamily="18" charset="0"/>
              </a:rPr>
              <a:t>Proceedings of the 2012 IEEE Symposium on Humanities, Science and Engineering Research (SHUSER)</a:t>
            </a:r>
            <a:r>
              <a:rPr lang="en-IN" sz="2000" dirty="0">
                <a:latin typeface="Times New Roman" panose="02020603050405020304" pitchFamily="18" charset="0"/>
                <a:cs typeface="Times New Roman" panose="02020603050405020304" pitchFamily="18" charset="0"/>
              </a:rPr>
              <a:t>, Kuala Lumpur, Malaysia, June 24–27, 2012, pp. 1569–1573, </a:t>
            </a:r>
            <a:r>
              <a:rPr lang="en-IN" sz="2000" dirty="0">
                <a:latin typeface="Times New Roman" panose="02020603050405020304" pitchFamily="18" charset="0"/>
                <a:cs typeface="Times New Roman" panose="02020603050405020304" pitchFamily="18" charset="0"/>
                <a:hlinkClick r:id="rId2"/>
              </a:rPr>
              <a:t>https://ieeexplore.ieee.org/document/6268841</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 Mukhopadhyay, G. Pettet, S. M. </a:t>
            </a:r>
            <a:r>
              <a:rPr lang="en-IN" sz="2000" dirty="0" err="1">
                <a:latin typeface="Times New Roman" panose="02020603050405020304" pitchFamily="18" charset="0"/>
                <a:cs typeface="Times New Roman" panose="02020603050405020304" pitchFamily="18" charset="0"/>
              </a:rPr>
              <a:t>Vazirizade</a:t>
            </a:r>
            <a:r>
              <a:rPr lang="en-IN" sz="2000" dirty="0">
                <a:latin typeface="Times New Roman" panose="02020603050405020304" pitchFamily="18" charset="0"/>
                <a:cs typeface="Times New Roman" panose="02020603050405020304" pitchFamily="18" charset="0"/>
              </a:rPr>
              <a:t>, D. Lu, A. Jaimes, S. E. Said, H. Baroud, Y. </a:t>
            </a:r>
            <a:r>
              <a:rPr lang="en-IN" sz="2000" dirty="0" err="1">
                <a:latin typeface="Times New Roman" panose="02020603050405020304" pitchFamily="18" charset="0"/>
                <a:cs typeface="Times New Roman" panose="02020603050405020304" pitchFamily="18" charset="0"/>
              </a:rPr>
              <a:t>Vorobeychik</a:t>
            </a:r>
            <a:r>
              <a:rPr lang="en-IN" sz="2000" dirty="0">
                <a:latin typeface="Times New Roman" panose="02020603050405020304" pitchFamily="18" charset="0"/>
                <a:cs typeface="Times New Roman" panose="02020603050405020304" pitchFamily="18" charset="0"/>
              </a:rPr>
              <a:t>, M. J. Kochenderfer, and A. Dubey, </a:t>
            </a:r>
            <a:r>
              <a:rPr lang="en-IN" sz="2000" i="1" dirty="0">
                <a:latin typeface="Times New Roman" panose="02020603050405020304" pitchFamily="18" charset="0"/>
                <a:cs typeface="Times New Roman" panose="02020603050405020304" pitchFamily="18" charset="0"/>
              </a:rPr>
              <a:t>"A Review of Incident Prediction, Resource Allocation, and Dispatch Models for Emergency Management," </a:t>
            </a:r>
            <a:r>
              <a:rPr lang="en-IN" sz="2000" dirty="0">
                <a:latin typeface="Times New Roman" panose="02020603050405020304" pitchFamily="18" charset="0"/>
                <a:cs typeface="Times New Roman" panose="02020603050405020304" pitchFamily="18" charset="0"/>
              </a:rPr>
              <a:t>in </a:t>
            </a:r>
            <a:r>
              <a:rPr lang="en-IN" sz="2000" i="1" dirty="0">
                <a:latin typeface="Times New Roman" panose="02020603050405020304" pitchFamily="18" charset="0"/>
                <a:cs typeface="Times New Roman" panose="02020603050405020304" pitchFamily="18" charset="0"/>
              </a:rPr>
              <a:t>Accident Analysis &amp; Prevention</a:t>
            </a:r>
            <a:r>
              <a:rPr lang="en-IN" sz="2000" dirty="0">
                <a:latin typeface="Times New Roman" panose="02020603050405020304" pitchFamily="18" charset="0"/>
                <a:cs typeface="Times New Roman" panose="02020603050405020304" pitchFamily="18" charset="0"/>
              </a:rPr>
              <a:t>, vol. 165, Art. no. 106501, 2022,</a:t>
            </a:r>
            <a:r>
              <a:rPr lang="en-IN" sz="2000" dirty="0">
                <a:hlinkClick r:id="rId3"/>
              </a:rPr>
              <a:t>https://doi.org/10.1016/j.aap.2021.106501</a:t>
            </a:r>
            <a:endParaRPr lang="en-IN" sz="2000" dirty="0"/>
          </a:p>
          <a:p>
            <a:r>
              <a:rPr lang="en-IN" sz="2000" dirty="0">
                <a:latin typeface="Times New Roman" panose="02020603050405020304" pitchFamily="18" charset="0"/>
                <a:cs typeface="Times New Roman" panose="02020603050405020304" pitchFamily="18" charset="0"/>
              </a:rPr>
              <a:t>G. Pettet, A. Mukhopadhyay, M. J. Kochenderfer, and A. Dubey, </a:t>
            </a:r>
            <a:r>
              <a:rPr lang="en-IN" sz="2000" b="1" dirty="0">
                <a:latin typeface="Times New Roman" panose="02020603050405020304" pitchFamily="18" charset="0"/>
                <a:cs typeface="Times New Roman" panose="02020603050405020304" pitchFamily="18" charset="0"/>
              </a:rPr>
              <a:t>"</a:t>
            </a:r>
            <a:r>
              <a:rPr lang="en-IN" sz="2000" i="1" dirty="0">
                <a:latin typeface="Times New Roman" panose="02020603050405020304" pitchFamily="18" charset="0"/>
                <a:cs typeface="Times New Roman" panose="02020603050405020304" pitchFamily="18" charset="0"/>
              </a:rPr>
              <a:t>Hierarchical Planning for Resource Allocation in Emergency Response Systems,</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in </a:t>
            </a:r>
            <a:r>
              <a:rPr lang="en-IN" sz="2000" i="1" dirty="0">
                <a:latin typeface="Times New Roman" panose="02020603050405020304" pitchFamily="18" charset="0"/>
                <a:cs typeface="Times New Roman" panose="02020603050405020304" pitchFamily="18" charset="0"/>
              </a:rPr>
              <a:t>Proceedings of the 12th ACM/IEEE International Conference on Cyber-Physical Systems (ICCPS 2021)</a:t>
            </a:r>
            <a:r>
              <a:rPr lang="en-IN" sz="2000" dirty="0">
                <a:latin typeface="Times New Roman" panose="02020603050405020304" pitchFamily="18" charset="0"/>
                <a:cs typeface="Times New Roman" panose="02020603050405020304" pitchFamily="18" charset="0"/>
              </a:rPr>
              <a:t>, Nashville, TN, USA, May 2021</a:t>
            </a:r>
            <a:r>
              <a:rPr lang="en-IN" sz="1600" dirty="0"/>
              <a:t>, </a:t>
            </a:r>
            <a:r>
              <a:rPr lang="en-IN" sz="1600" dirty="0">
                <a:hlinkClick r:id="rId4"/>
              </a:rPr>
              <a:t>https://doi.org/10.1145/3450267.3450543</a:t>
            </a:r>
            <a:endParaRPr lang="en-US" sz="1600" b="0" dirty="0"/>
          </a:p>
          <a:p>
            <a:endParaRPr sz="1600" b="0" dirty="0"/>
          </a:p>
        </p:txBody>
      </p:sp>
      <p:sp>
        <p:nvSpPr>
          <p:cNvPr id="4" name="Footer Placeholder 3">
            <a:extLst>
              <a:ext uri="{FF2B5EF4-FFF2-40B4-BE49-F238E27FC236}">
                <a16:creationId xmlns:a16="http://schemas.microsoft.com/office/drawing/2014/main" id="{D2376813-C5D5-412F-BEE4-270486186E54}"/>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109157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21448</TotalTime>
  <Words>1179</Words>
  <Application>Microsoft Office PowerPoint</Application>
  <PresentationFormat>Widescreen</PresentationFormat>
  <Paragraphs>110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OUTLINE</vt:lpstr>
      <vt:lpstr>ABSTRACT</vt:lpstr>
      <vt:lpstr>OBJECTIVE</vt:lpstr>
      <vt:lpstr>Literature Survey</vt:lpstr>
      <vt:lpstr>EXISTING SYSTEM</vt:lpstr>
      <vt:lpstr>PROPOSED SYSTEM</vt:lpstr>
      <vt:lpstr>Novelty in Proposed System</vt:lpstr>
      <vt:lpstr>BLOCK DIAGRAM(PROPOSED SYSTEM)</vt:lpstr>
      <vt:lpstr>Hardware/Software Requirements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deva dharashani</cp:lastModifiedBy>
  <cp:revision>17</cp:revision>
  <dcterms:created xsi:type="dcterms:W3CDTF">2026-07-28T13:30:13Z</dcterms:created>
  <dcterms:modified xsi:type="dcterms:W3CDTF">2026-09-30T10:19:34Z</dcterms:modified>
</cp:coreProperties>
</file>