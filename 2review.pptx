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60" r:id="rId9"/>
    <p:sldId id="268" r:id="rId10"/>
    <p:sldId id="275" r:id="rId11"/>
    <p:sldId id="261" r:id="rId12"/>
    <p:sldId id="262" r:id="rId13"/>
    <p:sldId id="269" r:id="rId14"/>
    <p:sldId id="263" r:id="rId15"/>
    <p:sldId id="270" r:id="rId16"/>
    <p:sldId id="264" r:id="rId17"/>
    <p:sldId id="265" r:id="rId18"/>
    <p:sldId id="266" r:id="rId19"/>
    <p:sldId id="27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8EA"/>
    <a:srgbClr val="193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C15F4-5C90-4810-A641-1F5D002E4A43}" v="6" dt="2026-10-14T09:29:08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65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 dharashani" userId="155994cab92db6bd" providerId="LiveId" clId="{DFAED641-EE27-4306-8549-C699CFB5C6B7}"/>
    <pc:docChg chg="modSld">
      <pc:chgData name="deva dharashani" userId="155994cab92db6bd" providerId="LiveId" clId="{DFAED641-EE27-4306-8549-C699CFB5C6B7}" dt="2026-10-14T09:29:08.869" v="6" actId="1076"/>
      <pc:docMkLst>
        <pc:docMk/>
      </pc:docMkLst>
      <pc:sldChg chg="modSp">
        <pc:chgData name="deva dharashani" userId="155994cab92db6bd" providerId="LiveId" clId="{DFAED641-EE27-4306-8549-C699CFB5C6B7}" dt="2026-10-14T09:29:08.869" v="6" actId="1076"/>
        <pc:sldMkLst>
          <pc:docMk/>
          <pc:sldMk cId="4233139276" sldId="256"/>
        </pc:sldMkLst>
        <pc:spChg chg="mod">
          <ac:chgData name="deva dharashani" userId="155994cab92db6bd" providerId="LiveId" clId="{DFAED641-EE27-4306-8549-C699CFB5C6B7}" dt="2026-10-14T09:29:08.869" v="6" actId="1076"/>
          <ac:spMkLst>
            <pc:docMk/>
            <pc:sldMk cId="4233139276" sldId="256"/>
            <ac:spMk id="10" creationId="{2D19DAE3-8F95-230C-D485-225341D07DA1}"/>
          </ac:spMkLst>
        </pc:spChg>
      </pc:sldChg>
      <pc:sldChg chg="modSp">
        <pc:chgData name="deva dharashani" userId="155994cab92db6bd" providerId="LiveId" clId="{DFAED641-EE27-4306-8549-C699CFB5C6B7}" dt="2026-10-13T15:43:52.561" v="3" actId="1076"/>
        <pc:sldMkLst>
          <pc:docMk/>
          <pc:sldMk cId="1658386993" sldId="257"/>
        </pc:sldMkLst>
        <pc:spChg chg="mod">
          <ac:chgData name="deva dharashani" userId="155994cab92db6bd" providerId="LiveId" clId="{DFAED641-EE27-4306-8549-C699CFB5C6B7}" dt="2026-10-13T15:43:52.561" v="3" actId="1076"/>
          <ac:spMkLst>
            <pc:docMk/>
            <pc:sldMk cId="1658386993" sldId="257"/>
            <ac:spMk id="3" creationId="{01F36FF0-FD4A-EE78-6CA2-4ADCB6BA1B65}"/>
          </ac:spMkLst>
        </pc:spChg>
      </pc:sldChg>
      <pc:sldChg chg="modSp mod">
        <pc:chgData name="deva dharashani" userId="155994cab92db6bd" providerId="LiveId" clId="{DFAED641-EE27-4306-8549-C699CFB5C6B7}" dt="2026-10-13T15:52:09.669" v="4" actId="14734"/>
        <pc:sldMkLst>
          <pc:docMk/>
          <pc:sldMk cId="2440445193" sldId="271"/>
        </pc:sldMkLst>
        <pc:graphicFrameChg chg="modGraphic">
          <ac:chgData name="deva dharashani" userId="155994cab92db6bd" providerId="LiveId" clId="{DFAED641-EE27-4306-8549-C699CFB5C6B7}" dt="2026-10-13T15:52:09.669" v="4" actId="14734"/>
          <ac:graphicFrameMkLst>
            <pc:docMk/>
            <pc:sldMk cId="2440445193" sldId="271"/>
            <ac:graphicFrameMk id="5" creationId="{AD7E4B40-F95E-47F4-B92E-06AFA2A015F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C5D9F-5FDD-4E04-AD07-37773298FBF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03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networkx.org/documentation/stable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streetmap.org/copyright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AI BASED EMERGENCY RESOURCES ALLOCATIN SYSTEM— 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8" y="5183902"/>
            <a:ext cx="49170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>
                <a:solidFill>
                  <a:srgbClr val="FF0000"/>
                </a:solidFill>
              </a:rPr>
              <a:t>r. BHUVANA S,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ASSISTANT PROFESSOR SG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5047325"/>
            <a:ext cx="50652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</a:rPr>
              <a:t>D</a:t>
            </a:r>
            <a:r>
              <a:rPr lang="en-IN" altLang="en-US" sz="2400" b="1" dirty="0">
                <a:solidFill>
                  <a:srgbClr val="FF0000"/>
                </a:solidFill>
              </a:rPr>
              <a:t>HARSHINI S -241901026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KEERTHIKA K -241901046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600"/>
            <a:ext cx="10668000" cy="4412704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Problem Statement</a:t>
            </a:r>
            <a:endParaRPr lang="en-IN" sz="2400" dirty="0"/>
          </a:p>
          <a:p>
            <a:pPr lvl="0"/>
            <a:r>
              <a:rPr lang="en-IN" sz="2400" dirty="0"/>
              <a:t>Manual emergency resource selection and route planning may delay response.</a:t>
            </a:r>
          </a:p>
          <a:p>
            <a:pPr lvl="0"/>
            <a:r>
              <a:rPr lang="en-IN" sz="2400" dirty="0"/>
              <a:t>Suitable resources and routes must be identified quickly.</a:t>
            </a:r>
          </a:p>
          <a:p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Motivation</a:t>
            </a:r>
            <a:endParaRPr lang="en-IN" sz="2400" dirty="0"/>
          </a:p>
          <a:p>
            <a:pPr lvl="0"/>
            <a:r>
              <a:rPr lang="en-IN" sz="2400" dirty="0"/>
              <a:t>Use knowledge-based rules to select suitable resources.</a:t>
            </a:r>
          </a:p>
          <a:p>
            <a:pPr lvl="0"/>
            <a:r>
              <a:rPr lang="en-IN" sz="2400" dirty="0"/>
              <a:t>Apply A* algorithm for route finding.</a:t>
            </a:r>
          </a:p>
          <a:p>
            <a:pPr lvl="0"/>
            <a:r>
              <a:rPr lang="en-IN" sz="2400" dirty="0"/>
              <a:t>Integrate allocation and map visualization in one web application.</a:t>
            </a:r>
          </a:p>
          <a:p>
            <a:pPr marL="0" indent="0">
              <a:buNone/>
            </a:pPr>
            <a:endParaRPr lang="en-IN" sz="2400" dirty="0"/>
          </a:p>
          <a:p>
            <a:pPr marL="469900" marR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anose="05000000000000000000" pitchFamily="2" charset="2"/>
              <a:buChar char="o"/>
              <a:tabLst/>
              <a:defRPr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400" b="1" dirty="0"/>
          </a:p>
          <a:p>
            <a:pPr lvl="0"/>
            <a:r>
              <a:rPr lang="en-IN" sz="2400" dirty="0"/>
              <a:t>Develop a web-based emergency resource allocation system.</a:t>
            </a:r>
          </a:p>
          <a:p>
            <a:pPr lvl="0"/>
            <a:r>
              <a:rPr lang="en-IN" sz="2400" dirty="0"/>
              <a:t>Select suitable resources using knowledge-based rules.</a:t>
            </a:r>
          </a:p>
          <a:p>
            <a:pPr lvl="0"/>
            <a:r>
              <a:rPr lang="en-IN" sz="2400" dirty="0"/>
              <a:t>Find routes using the A* search algorithm.</a:t>
            </a:r>
          </a:p>
          <a:p>
            <a:pPr lvl="0"/>
            <a:r>
              <a:rPr lang="en-IN" sz="2400" dirty="0"/>
              <a:t>Display emergency locations and routes on an interactive map.</a:t>
            </a:r>
          </a:p>
          <a:p>
            <a:pPr lvl="0"/>
            <a:r>
              <a:rPr lang="en-IN" sz="2400" dirty="0"/>
              <a:t>Implement authentication, input validation, and allocation logging.</a:t>
            </a:r>
          </a:p>
          <a:p>
            <a:r>
              <a:rPr lang="en-IN" sz="2400" b="1" dirty="0"/>
              <a:t>Completed So Far:</a:t>
            </a:r>
            <a:r>
              <a:rPr lang="en-IN" sz="2400" dirty="0"/>
              <a:t> Core resource allocation, A* routing, map visualization, and basic security features implemented.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Project Progress Since Review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dirty="0"/>
              <a:t>Developed the Flask-based web application and user interface.</a:t>
            </a:r>
          </a:p>
          <a:p>
            <a:pPr lvl="0"/>
            <a:r>
              <a:rPr lang="en-IN" sz="2400" dirty="0"/>
              <a:t>Implemented login authentication and role-based access control.</a:t>
            </a:r>
          </a:p>
          <a:p>
            <a:pPr lvl="0"/>
            <a:r>
              <a:rPr lang="en-IN" sz="2400" dirty="0"/>
              <a:t>Developed knowledge-based emergency resource allocation.</a:t>
            </a:r>
          </a:p>
          <a:p>
            <a:pPr lvl="0"/>
            <a:r>
              <a:rPr lang="en-IN" sz="2400" dirty="0"/>
              <a:t>Integrated A* algorithm for route finding.</a:t>
            </a:r>
          </a:p>
          <a:p>
            <a:pPr lvl="0"/>
            <a:r>
              <a:rPr lang="en-IN" sz="2400" dirty="0"/>
              <a:t>Integrated interactive map visualization using Leaflet and OpenStreetMap.</a:t>
            </a:r>
          </a:p>
          <a:p>
            <a:pPr lvl="0"/>
            <a:r>
              <a:rPr lang="en-IN" sz="2400" dirty="0"/>
              <a:t>Implemented input validation and allocation activity logging.</a:t>
            </a:r>
          </a:p>
          <a:p>
            <a:r>
              <a:rPr lang="en-IN" sz="2400" b="1" dirty="0"/>
              <a:t>Current Status:</a:t>
            </a:r>
            <a:r>
              <a:rPr lang="en-IN" sz="2400" dirty="0"/>
              <a:t> Core modules integrated and basic end-to-end functionality demonstrated.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52887"/>
              </p:ext>
            </p:extLst>
          </p:nvPr>
        </p:nvGraphicFramePr>
        <p:xfrm>
          <a:off x="551384" y="838200"/>
          <a:ext cx="11305254" cy="5555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7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4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2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114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 dirty="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49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Nordin et al.,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Finding Shortest Path of the Ambulance Routing: Interface of A* Algorithm Using C# Programming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A* shortest-path algorithm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Focuses on ambulance route finding rather than integrated resource allocation. </a:t>
                      </a: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researchgate.net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49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Aptos" panose="020B0004020202020204" pitchFamily="34" charset="0"/>
                        </a:rPr>
                        <a:t>Barrachina</a:t>
                      </a:r>
                      <a:r>
                        <a:rPr lang="en-IN" dirty="0">
                          <a:latin typeface="Aptos" panose="020B0004020202020204" pitchFamily="34" charset="0"/>
                        </a:rPr>
                        <a:t> et al., 2014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Reducing Emergency Services Arrival Time by Using Vehicular Communications and Evolution Strategies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Evolution strategies and vehicular communication-based rerouting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Depends on traffic and vehicular communication information.</a:t>
                      </a:r>
                    </a:p>
                  </a:txBody>
                  <a:tcPr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1607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IN" sz="1800" dirty="0"/>
                        <a:t>3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Pettet et al., 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Designing Decision Support Systems for Emergency Response: Challenges and Opportunities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Emergency response decision-support and optimization approaches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Discusses broader decision-support challenges; our project implements a specific resource-selection and route-planning prototype. </a:t>
                      </a:r>
                    </a:p>
                    <a:p>
                      <a:pPr>
                        <a:buNone/>
                      </a:pPr>
                      <a:r>
                        <a:rPr lang="en-IN" dirty="0">
                          <a:latin typeface="Aptos" panose="020B0004020202020204" pitchFamily="34" charset="0"/>
                        </a:rPr>
                        <a:t>scopelab.ai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 Research Gap and Project Response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33" y="1753895"/>
            <a:ext cx="5052318" cy="1699865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marL="0" indent="0" algn="ctr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1. Literature findings</a:t>
            </a:r>
            <a:endParaRPr lang="en-US" dirty="0"/>
          </a:p>
          <a:p>
            <a:pPr marL="0" indent="0" algn="ctr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A* supports shortest-path routing, while optimization and decision-support methods assist emergency response planning.</a:t>
            </a:r>
            <a:endParaRPr dirty="0"/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730900"/>
            <a:ext cx="5452872" cy="1555848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2. Limitations
</a:t>
            </a: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Existing approaches may depend on routing information and do not always combine resource selection and route planning in one system.</a:t>
            </a:r>
          </a:p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endParaRPr dirty="0"/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3. Refined research gap
</a:t>
            </a: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An integrated system is needed to support rule-based emergency resource allocation and map-based route planning.</a:t>
            </a:r>
          </a:p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endParaRPr dirty="0"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/>
              <a:t>4. Progress toward the solution
</a:t>
            </a:r>
            <a:r>
              <a:rPr lang="en-IN" sz="1700" b="1" dirty="0">
                <a:solidFill>
                  <a:srgbClr val="193054"/>
                </a:solidFill>
                <a:latin typeface="Aptos Display"/>
              </a:rPr>
              <a:t>Implemented knowledge-based resource selection, A* routing, interactive map visualization, authentication, and allocation logging.</a:t>
            </a:r>
          </a:p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System Architecture / 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b="1" dirty="0"/>
              <a:t>Main Components</a:t>
            </a:r>
            <a:endParaRPr lang="en-IN" sz="1600" dirty="0"/>
          </a:p>
          <a:p>
            <a:pPr lvl="0"/>
            <a:r>
              <a:rPr lang="en-IN" sz="1600" b="1" dirty="0"/>
              <a:t>User Interface:</a:t>
            </a:r>
            <a:r>
              <a:rPr lang="en-IN" sz="1600" dirty="0"/>
              <a:t> Enter emergency details and view results.</a:t>
            </a:r>
          </a:p>
          <a:p>
            <a:pPr lvl="0"/>
            <a:r>
              <a:rPr lang="en-IN" sz="1600" b="1" dirty="0"/>
              <a:t>Flask Backend:</a:t>
            </a:r>
            <a:r>
              <a:rPr lang="en-IN" sz="1600" dirty="0"/>
              <a:t> Processes requests and coordinates modules.</a:t>
            </a:r>
          </a:p>
          <a:p>
            <a:pPr lvl="0"/>
            <a:r>
              <a:rPr lang="en-IN" sz="1600" b="1" dirty="0"/>
              <a:t>Resource Allocator:</a:t>
            </a:r>
            <a:r>
              <a:rPr lang="en-IN" sz="1600" dirty="0"/>
              <a:t> Selects a suitable resource using knowledge-based rules.</a:t>
            </a:r>
          </a:p>
          <a:p>
            <a:pPr lvl="0"/>
            <a:r>
              <a:rPr lang="en-IN" sz="1600" b="1" dirty="0"/>
              <a:t>A(Star) </a:t>
            </a:r>
            <a:r>
              <a:rPr lang="en-IN" sz="1600" b="1" dirty="0" err="1"/>
              <a:t>Pathfinding</a:t>
            </a:r>
            <a:r>
              <a:rPr lang="en-IN" sz="1600" i="1" dirty="0" err="1"/>
              <a:t>:</a:t>
            </a:r>
            <a:r>
              <a:rPr lang="en-IN" sz="1600" dirty="0" err="1"/>
              <a:t>Calculates</a:t>
            </a:r>
            <a:r>
              <a:rPr lang="en-IN" sz="1600" dirty="0"/>
              <a:t> a route using the road network.</a:t>
            </a:r>
          </a:p>
          <a:p>
            <a:pPr lvl="0"/>
            <a:r>
              <a:rPr lang="en-IN" sz="1600" b="1" dirty="0"/>
              <a:t>Map Visualization:</a:t>
            </a:r>
            <a:r>
              <a:rPr lang="en-IN" sz="1600" dirty="0"/>
              <a:t> Displays the emergency location and route.</a:t>
            </a:r>
          </a:p>
          <a:p>
            <a:pPr lvl="0"/>
            <a:r>
              <a:rPr lang="en-IN" sz="1600" b="1" dirty="0"/>
              <a:t>Security &amp; Database:</a:t>
            </a:r>
            <a:r>
              <a:rPr lang="en-IN" sz="1600" dirty="0"/>
              <a:t> Handles authentication, access control, and allocation logs.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Improvement:</a:t>
            </a:r>
            <a:r>
              <a:rPr lang="en-IN" sz="1600" dirty="0"/>
              <a:t> Integrates resource selection, route planning, and map visualization in one web application.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7EBFA-D8F9-D16D-472C-F280EA72B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2" y="3861048"/>
            <a:ext cx="7128792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B1E772-B257-0951-5231-3FBFABC622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660" y="2292115"/>
            <a:ext cx="5246126" cy="3390876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E9C821-9B25-C4F3-64D5-5422D3D4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925" y="2261628"/>
            <a:ext cx="5135290" cy="342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 / Workflow Diagram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AF127C-B8F9-3289-0715-51B29F30D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568" y="1749425"/>
            <a:ext cx="7776864" cy="42672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Programming Language:</a:t>
            </a:r>
            <a:r>
              <a:rPr lang="en-IN" sz="2400" dirty="0"/>
              <a:t> Python, HTML, CSS, JavaScript</a:t>
            </a:r>
          </a:p>
          <a:p>
            <a:r>
              <a:rPr lang="en-IN" sz="2400" b="1" dirty="0"/>
              <a:t>Frameworks / Libraries:</a:t>
            </a:r>
            <a:r>
              <a:rPr lang="en-IN" sz="2400" dirty="0"/>
              <a:t> Flask, </a:t>
            </a:r>
            <a:r>
              <a:rPr lang="en-IN" sz="2400" dirty="0" err="1"/>
              <a:t>NetworkX</a:t>
            </a:r>
            <a:r>
              <a:rPr lang="en-IN" sz="2400" dirty="0"/>
              <a:t>, </a:t>
            </a:r>
            <a:r>
              <a:rPr lang="en-IN" sz="2400" dirty="0" err="1"/>
              <a:t>OSMnx</a:t>
            </a:r>
            <a:r>
              <a:rPr lang="en-IN" sz="2400" dirty="0"/>
              <a:t>, Leaflet</a:t>
            </a:r>
          </a:p>
          <a:p>
            <a:r>
              <a:rPr lang="en-IN" sz="2400" b="1" dirty="0"/>
              <a:t>Software / Database / Dataset:</a:t>
            </a:r>
            <a:endParaRPr lang="en-IN" sz="2400" dirty="0"/>
          </a:p>
          <a:p>
            <a:pPr lvl="0"/>
            <a:r>
              <a:rPr lang="en-IN" sz="2400" dirty="0"/>
              <a:t>SQLite database</a:t>
            </a:r>
          </a:p>
          <a:p>
            <a:pPr lvl="0"/>
            <a:r>
              <a:rPr lang="en-IN" sz="2400" dirty="0"/>
              <a:t>OpenStreetMap road network</a:t>
            </a:r>
          </a:p>
          <a:p>
            <a:pPr lvl="0"/>
            <a:r>
              <a:rPr lang="en-IN" sz="2400" dirty="0"/>
              <a:t>Python development environment</a:t>
            </a:r>
          </a:p>
          <a:p>
            <a:r>
              <a:rPr lang="en-IN" sz="2400" b="1" dirty="0" err="1"/>
              <a:t>Justification:</a:t>
            </a:r>
            <a:r>
              <a:rPr lang="en-IN" sz="2400" dirty="0" err="1"/>
              <a:t>Flask</a:t>
            </a:r>
            <a:r>
              <a:rPr lang="en-IN" sz="2400" dirty="0"/>
              <a:t> handles backend requests.</a:t>
            </a:r>
          </a:p>
          <a:p>
            <a:pPr lvl="0"/>
            <a:r>
              <a:rPr lang="en-IN" sz="2400" dirty="0" err="1"/>
              <a:t>NetworkX</a:t>
            </a:r>
            <a:r>
              <a:rPr lang="en-IN" sz="2400" dirty="0"/>
              <a:t> and </a:t>
            </a:r>
            <a:r>
              <a:rPr lang="en-IN" sz="2400" dirty="0" err="1"/>
              <a:t>OSMnx</a:t>
            </a:r>
            <a:r>
              <a:rPr lang="en-IN" sz="2400" dirty="0"/>
              <a:t> support A* route finding.</a:t>
            </a:r>
          </a:p>
          <a:p>
            <a:pPr lvl="0"/>
            <a:r>
              <a:rPr lang="en-IN" sz="2400" dirty="0"/>
              <a:t>Leaflet displays locations and routes on a map.</a:t>
            </a:r>
          </a:p>
          <a:p>
            <a:pPr lvl="0"/>
            <a:r>
              <a:rPr lang="en-IN" sz="2400" dirty="0"/>
              <a:t>SQLite stores allocation records.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520826"/>
            <a:ext cx="11389021" cy="4498974"/>
          </a:xfrm>
        </p:spPr>
        <p:txBody>
          <a:bodyPr/>
          <a:lstStyle/>
          <a:p>
            <a:r>
              <a:rPr lang="en-IN" sz="2000" b="1" dirty="0"/>
              <a:t>Module 1 – Emergency Input &amp; Location</a:t>
            </a:r>
            <a:br>
              <a:rPr lang="en-IN" sz="2000" dirty="0"/>
            </a:br>
            <a:r>
              <a:rPr lang="en-IN" sz="2000" dirty="0"/>
              <a:t>index.html, map.js</a:t>
            </a:r>
            <a:br>
              <a:rPr lang="en-IN" sz="2000" dirty="0"/>
            </a:br>
            <a:r>
              <a:rPr lang="en-IN" sz="2000" dirty="0"/>
              <a:t>Collects emergency details and location.</a:t>
            </a:r>
          </a:p>
          <a:p>
            <a:r>
              <a:rPr lang="en-IN" sz="2000" b="1" dirty="0"/>
              <a:t>Module 2 – Resource Allocation</a:t>
            </a:r>
            <a:br>
              <a:rPr lang="en-IN" sz="2000" dirty="0"/>
            </a:br>
            <a:r>
              <a:rPr lang="en-IN" sz="2000" dirty="0"/>
              <a:t>intelligent_allocator.py, resource_allocator.py</a:t>
            </a:r>
            <a:br>
              <a:rPr lang="en-IN" sz="2000" dirty="0"/>
            </a:br>
            <a:r>
              <a:rPr lang="en-IN" sz="2000" dirty="0"/>
              <a:t>Selects a suitable resource using allocation rules.</a:t>
            </a:r>
          </a:p>
          <a:p>
            <a:r>
              <a:rPr lang="en-IN" sz="2000" b="1" dirty="0"/>
              <a:t>Module 3 – A(star) Routing</a:t>
            </a:r>
            <a:br>
              <a:rPr lang="en-IN" sz="2000" dirty="0"/>
            </a:br>
            <a:r>
              <a:rPr lang="en-IN" sz="2000" dirty="0"/>
              <a:t>astar.py, </a:t>
            </a:r>
            <a:r>
              <a:rPr lang="en-IN" sz="2000" dirty="0" err="1"/>
              <a:t>NetworkX</a:t>
            </a:r>
            <a:r>
              <a:rPr lang="en-IN" sz="2000" dirty="0"/>
              <a:t>, </a:t>
            </a:r>
            <a:r>
              <a:rPr lang="en-IN" sz="2000" dirty="0" err="1"/>
              <a:t>OSMnx</a:t>
            </a:r>
            <a:br>
              <a:rPr lang="en-IN" sz="2000" dirty="0"/>
            </a:br>
            <a:r>
              <a:rPr lang="en-IN" sz="2000" dirty="0"/>
              <a:t>Finds a route using the A* algorithm.</a:t>
            </a:r>
          </a:p>
          <a:p>
            <a:r>
              <a:rPr lang="en-IN" sz="2000" b="1" dirty="0"/>
              <a:t>Module 4 – Map Visualization</a:t>
            </a:r>
            <a:br>
              <a:rPr lang="en-IN" sz="2000" dirty="0"/>
            </a:br>
            <a:r>
              <a:rPr lang="en-IN" sz="2000" dirty="0"/>
              <a:t>map.js, Leaflet, OpenStreetMap</a:t>
            </a:r>
            <a:br>
              <a:rPr lang="en-IN" sz="2000" dirty="0"/>
            </a:br>
            <a:r>
              <a:rPr lang="en-IN" sz="2000" dirty="0"/>
              <a:t>Displays the location and route on the map.</a:t>
            </a:r>
          </a:p>
          <a:p>
            <a:r>
              <a:rPr lang="en-IN" sz="2000" b="1" dirty="0"/>
              <a:t>Module 5 – Backend &amp; API Integration</a:t>
            </a:r>
            <a:br>
              <a:rPr lang="en-IN" sz="2000" dirty="0"/>
            </a:br>
            <a:r>
              <a:rPr lang="en-IN" sz="2000" dirty="0"/>
              <a:t>app.py, Flask, JSON</a:t>
            </a:r>
            <a:br>
              <a:rPr lang="en-IN" sz="2000" dirty="0"/>
            </a:br>
            <a:r>
              <a:rPr lang="en-IN" sz="2000" dirty="0"/>
              <a:t>Connects the frontend with backend modules.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1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Module 1 – Emergency Input &amp; Location</a:t>
            </a:r>
            <a:endParaRPr lang="en-IN" sz="2400" dirty="0"/>
          </a:p>
          <a:p>
            <a:pPr lvl="0"/>
            <a:r>
              <a:rPr lang="en-IN" sz="2400" b="1" dirty="0"/>
              <a:t>Purpose:</a:t>
            </a:r>
            <a:r>
              <a:rPr lang="en-IN" sz="2400" dirty="0"/>
              <a:t> Collect emergency details and location.</a:t>
            </a:r>
          </a:p>
          <a:p>
            <a:pPr lvl="0"/>
            <a:r>
              <a:rPr lang="en-IN" sz="2400" b="1" dirty="0"/>
              <a:t>Input/Output:</a:t>
            </a:r>
            <a:r>
              <a:rPr lang="en-IN" sz="2400" dirty="0"/>
              <a:t> Emergency type and location → Validated emergency data.</a:t>
            </a:r>
          </a:p>
          <a:p>
            <a:pPr lvl="0"/>
            <a:r>
              <a:rPr lang="en-IN" sz="2400" b="1" dirty="0"/>
              <a:t>Implementation:</a:t>
            </a:r>
            <a:r>
              <a:rPr lang="en-IN" sz="2400" dirty="0"/>
              <a:t> HTML, JavaScript and Leaflet map.</a:t>
            </a:r>
          </a:p>
          <a:p>
            <a:pPr lvl="0"/>
            <a:r>
              <a:rPr lang="en-IN" sz="2400" b="1" dirty="0"/>
              <a:t>Key Functions:</a:t>
            </a:r>
            <a:r>
              <a:rPr lang="en-IN" sz="2400" dirty="0"/>
              <a:t> Location selection and input handling.</a:t>
            </a:r>
          </a:p>
          <a:p>
            <a:pPr lvl="0"/>
            <a:r>
              <a:rPr lang="en-IN" sz="2400" b="1" dirty="0"/>
              <a:t>Status &amp; Testing:</a:t>
            </a:r>
            <a:r>
              <a:rPr lang="en-IN" sz="2400" dirty="0"/>
              <a:t> Implemented; verify using emergency input and map selection.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Implementation – Part 2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Module 2 – Resource Allocation</a:t>
            </a:r>
            <a:endParaRPr lang="en-IN" sz="2400" dirty="0"/>
          </a:p>
          <a:p>
            <a:pPr lvl="0"/>
            <a:r>
              <a:rPr lang="en-IN" sz="2400" b="1" dirty="0"/>
              <a:t>Purpose:</a:t>
            </a:r>
            <a:r>
              <a:rPr lang="en-IN" sz="2400" dirty="0"/>
              <a:t> Select a suitable emergency resource.</a:t>
            </a:r>
          </a:p>
          <a:p>
            <a:pPr lvl="0"/>
            <a:r>
              <a:rPr lang="en-IN" sz="2400" b="1" dirty="0"/>
              <a:t>Input/Output:</a:t>
            </a:r>
            <a:r>
              <a:rPr lang="en-IN" sz="2400" dirty="0"/>
              <a:t> Emergency details → Selected resource.</a:t>
            </a:r>
          </a:p>
          <a:p>
            <a:pPr lvl="0"/>
            <a:r>
              <a:rPr lang="en-IN" sz="2400" b="1" dirty="0"/>
              <a:t>Implementation:</a:t>
            </a:r>
            <a:r>
              <a:rPr lang="en-IN" sz="2400" dirty="0"/>
              <a:t> Python-based knowledge rules.</a:t>
            </a:r>
          </a:p>
          <a:p>
            <a:pPr lvl="0"/>
            <a:r>
              <a:rPr lang="en-IN" sz="2400" b="1" dirty="0"/>
              <a:t>Key Logic:</a:t>
            </a:r>
            <a:r>
              <a:rPr lang="en-IN" sz="2400" dirty="0"/>
              <a:t> Evaluate candidate resources and select a suitable match.</a:t>
            </a:r>
          </a:p>
          <a:p>
            <a:pPr lvl="0"/>
            <a:r>
              <a:rPr lang="en-IN" sz="2400" b="1" dirty="0"/>
              <a:t>Interaction:</a:t>
            </a:r>
            <a:r>
              <a:rPr lang="en-IN" sz="2400" dirty="0"/>
              <a:t> Sends the selected resource to the A* routing module.</a:t>
            </a:r>
          </a:p>
          <a:p>
            <a:pPr lvl="0"/>
            <a:r>
              <a:rPr lang="en-IN" sz="2400" b="1" dirty="0"/>
              <a:t>Status &amp; Testing:</a:t>
            </a:r>
            <a:r>
              <a:rPr lang="en-IN" sz="2400" dirty="0"/>
              <a:t> Implemented; test output confirms resource selection.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Preliminary Results and Discussion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Resource Allocation:</a:t>
            </a:r>
            <a:r>
              <a:rPr lang="en-IN" sz="2400" dirty="0"/>
              <a:t> Suitable candidate resource selected.</a:t>
            </a:r>
          </a:p>
          <a:p>
            <a:pPr lvl="0"/>
            <a:r>
              <a:rPr lang="en-IN" sz="2400" b="1" dirty="0"/>
              <a:t>Route Finding:</a:t>
            </a:r>
            <a:r>
              <a:rPr lang="en-IN" sz="2400" dirty="0"/>
              <a:t> A* calculates routes using the road network.</a:t>
            </a:r>
          </a:p>
          <a:p>
            <a:pPr lvl="0"/>
            <a:r>
              <a:rPr lang="en-IN" sz="2400" b="1" dirty="0"/>
              <a:t>Map Visualization:</a:t>
            </a:r>
            <a:r>
              <a:rPr lang="en-IN" sz="2400" dirty="0"/>
              <a:t> Location and route displayed on the map.</a:t>
            </a:r>
          </a:p>
          <a:p>
            <a:pPr lvl="0"/>
            <a:r>
              <a:rPr lang="en-IN" sz="2400" b="1" dirty="0"/>
              <a:t>Security Testing:</a:t>
            </a:r>
            <a:r>
              <a:rPr lang="en-IN" sz="2400" dirty="0"/>
              <a:t> Login and role-based access implemented.</a:t>
            </a:r>
          </a:p>
          <a:p>
            <a:pPr lvl="0"/>
            <a:r>
              <a:rPr lang="en-IN" sz="2400" b="1" dirty="0"/>
              <a:t>Test Cases:</a:t>
            </a:r>
            <a:r>
              <a:rPr lang="en-IN" sz="2400" dirty="0"/>
              <a:t> Input handling, resource selection, and route generation.</a:t>
            </a:r>
          </a:p>
          <a:p>
            <a:pPr lvl="0"/>
            <a:r>
              <a:rPr lang="en-IN" sz="2400" b="1" dirty="0"/>
              <a:t>Baseline Comparison:</a:t>
            </a:r>
            <a:r>
              <a:rPr lang="en-IN" sz="2400" dirty="0"/>
              <a:t> Manual selection vs. rule-based allocation.</a:t>
            </a:r>
          </a:p>
          <a:p>
            <a:pPr lvl="0"/>
            <a:r>
              <a:rPr lang="en-IN" sz="2400" b="1" dirty="0"/>
              <a:t>Observation:</a:t>
            </a:r>
            <a:r>
              <a:rPr lang="en-IN" sz="2400" dirty="0"/>
              <a:t> Core modules integrated; quantitative performance evaluation is pending.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Implementation Screenshots</a:t>
            </a:r>
            <a:endParaRPr lang="en-IN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9B073D-3C6A-9A3C-7745-2117C942D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682" y="1700808"/>
            <a:ext cx="3689174" cy="207455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40D0E0-8D7B-A8ED-DB8A-257B1CB7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176" y="1573184"/>
            <a:ext cx="4032448" cy="2181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738472-2B81-2201-A43C-2E6122122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4063599"/>
            <a:ext cx="3689172" cy="20745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2D40B6-4198-425A-1EEA-A4142E062760}"/>
              </a:ext>
            </a:extLst>
          </p:cNvPr>
          <p:cNvSpPr txBox="1"/>
          <p:nvPr/>
        </p:nvSpPr>
        <p:spPr>
          <a:xfrm>
            <a:off x="1123125" y="3724656"/>
            <a:ext cx="3698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Fig.1:Emergency Input Page</a:t>
            </a:r>
            <a:r>
              <a:rPr lang="en-IN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4E7E7B-F594-B817-C518-999A58590499}"/>
              </a:ext>
            </a:extLst>
          </p:cNvPr>
          <p:cNvSpPr txBox="1"/>
          <p:nvPr/>
        </p:nvSpPr>
        <p:spPr>
          <a:xfrm>
            <a:off x="6096000" y="39520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Fig.2:Route Visualization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6379B7-5A6F-CA5F-440D-C64582692727}"/>
              </a:ext>
            </a:extLst>
          </p:cNvPr>
          <p:cNvSpPr txBox="1"/>
          <p:nvPr/>
        </p:nvSpPr>
        <p:spPr>
          <a:xfrm>
            <a:off x="5822486" y="57958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Fig.3:Allocation Logs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Challenges Faced and Solutions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Resource Selection:</a:t>
            </a:r>
            <a:r>
              <a:rPr lang="en-IN" sz="2400" dirty="0"/>
              <a:t> Implemented rule-based logic to select suitable resources.</a:t>
            </a:r>
          </a:p>
          <a:p>
            <a:pPr lvl="0"/>
            <a:r>
              <a:rPr lang="en-IN" sz="2400" b="1" dirty="0"/>
              <a:t>Route Calculation:</a:t>
            </a:r>
            <a:r>
              <a:rPr lang="en-IN" sz="2400" dirty="0"/>
              <a:t> Used </a:t>
            </a:r>
            <a:r>
              <a:rPr lang="en-IN" sz="2400" dirty="0" err="1"/>
              <a:t>NetworkX</a:t>
            </a:r>
            <a:r>
              <a:rPr lang="en-IN" sz="2400" dirty="0"/>
              <a:t> A* with the configured road network.</a:t>
            </a:r>
          </a:p>
          <a:p>
            <a:pPr lvl="0"/>
            <a:r>
              <a:rPr lang="en-IN" sz="2400" b="1" dirty="0"/>
              <a:t>Map Integration:</a:t>
            </a:r>
            <a:r>
              <a:rPr lang="en-IN" sz="2400" dirty="0"/>
              <a:t> Integrated Leaflet to display routes and locations.</a:t>
            </a:r>
          </a:p>
          <a:p>
            <a:pPr lvl="0"/>
            <a:r>
              <a:rPr lang="en-IN" sz="2400" b="1" dirty="0"/>
              <a:t>Data Validation:</a:t>
            </a:r>
            <a:r>
              <a:rPr lang="en-IN" sz="2400" dirty="0"/>
              <a:t> Added input validation and authentication.</a:t>
            </a:r>
          </a:p>
          <a:p>
            <a:pPr lvl="0"/>
            <a:r>
              <a:rPr lang="en-IN" sz="2400" b="1" dirty="0"/>
              <a:t>Remaining Issues:</a:t>
            </a:r>
            <a:r>
              <a:rPr lang="en-IN" sz="2400" dirty="0"/>
              <a:t> Real-time resource availability and live traffic are not integrated.</a:t>
            </a:r>
          </a:p>
          <a:p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Work Plan Until Final Review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b="1" dirty="0"/>
              <a:t>Week 1:</a:t>
            </a:r>
            <a:r>
              <a:rPr lang="en-IN" sz="2400" dirty="0"/>
              <a:t> Improve resource allocation and routing modules.</a:t>
            </a:r>
          </a:p>
          <a:p>
            <a:pPr lvl="0"/>
            <a:r>
              <a:rPr lang="en-IN" sz="2400" b="1" dirty="0"/>
              <a:t>Week 2:</a:t>
            </a:r>
            <a:r>
              <a:rPr lang="en-IN" sz="2400" dirty="0"/>
              <a:t> Perform functional testing and fix errors.</a:t>
            </a:r>
          </a:p>
          <a:p>
            <a:pPr lvl="0"/>
            <a:r>
              <a:rPr lang="en-IN" sz="2400" b="1" dirty="0"/>
              <a:t>Week 3:</a:t>
            </a:r>
            <a:r>
              <a:rPr lang="en-IN" sz="2400" dirty="0"/>
              <a:t> Evaluate results and document test observations.</a:t>
            </a:r>
          </a:p>
          <a:p>
            <a:pPr lvl="0"/>
            <a:r>
              <a:rPr lang="en-IN" sz="2400" b="1" dirty="0"/>
              <a:t>Week 4:</a:t>
            </a:r>
            <a:r>
              <a:rPr lang="en-IN" sz="2400" dirty="0"/>
              <a:t> Complete project report and prepare presentation.</a:t>
            </a:r>
          </a:p>
          <a:p>
            <a:pPr lvl="0"/>
            <a:r>
              <a:rPr lang="en-IN" sz="2400" b="1" dirty="0"/>
              <a:t>Final Milestone:</a:t>
            </a:r>
            <a:r>
              <a:rPr lang="en-IN" sz="2400" dirty="0"/>
              <a:t> End-to-end testing, screenshots, and final review preparation.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[1] A. Nordin et al., “Finding Shortest Path of the Ambulance Routing: Interface of A* Algorithm Using C# Programming,” 2012.</a:t>
            </a:r>
          </a:p>
          <a:p>
            <a:r>
              <a:rPr lang="en-IN" sz="2400" dirty="0"/>
              <a:t>[2] J. </a:t>
            </a:r>
            <a:r>
              <a:rPr lang="en-IN" sz="2400" dirty="0" err="1"/>
              <a:t>Barrachina</a:t>
            </a:r>
            <a:r>
              <a:rPr lang="en-IN" sz="2400" dirty="0"/>
              <a:t> et al., “Reducing Emergency Services Arrival Time by Using Vehicular Communications and Evolution Strategies,” </a:t>
            </a:r>
            <a:r>
              <a:rPr lang="en-IN" sz="2400" i="1" dirty="0"/>
              <a:t>Expert Systems with Applications</a:t>
            </a:r>
            <a:r>
              <a:rPr lang="en-IN" sz="2400" dirty="0"/>
              <a:t>, vol. 41, no. 4, pp. 1206–1217, 2014.</a:t>
            </a:r>
          </a:p>
          <a:p>
            <a:r>
              <a:rPr lang="en-IN" sz="2400" dirty="0"/>
              <a:t>[3] G. Pettet et al., “Designing Decision Support Systems for Emergency Response: Challenges and Opportunities,” 2022.</a:t>
            </a:r>
          </a:p>
          <a:p>
            <a:r>
              <a:rPr lang="en-IN" sz="2400" dirty="0"/>
              <a:t>[4] </a:t>
            </a:r>
            <a:r>
              <a:rPr lang="en-IN" sz="2400" dirty="0" err="1"/>
              <a:t>NetworkX</a:t>
            </a:r>
            <a:r>
              <a:rPr lang="en-IN" sz="2400" dirty="0"/>
              <a:t>, “A* Shortest Path Algorithm Documentation.” </a:t>
            </a:r>
            <a:r>
              <a:rPr lang="en-IN" sz="2400" dirty="0">
                <a:hlinkClick r:id="rId2"/>
              </a:rPr>
              <a:t>https://networkx.org/documentation/stable/</a:t>
            </a:r>
            <a:endParaRPr lang="en-I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836C-E2E0-E3DA-685A-1581786B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0277D-AADB-C541-6B3A-331CF7FCB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[5] G. Boeing, “</a:t>
            </a:r>
            <a:r>
              <a:rPr lang="en-IN" sz="2400" dirty="0" err="1"/>
              <a:t>Modeling</a:t>
            </a:r>
            <a:r>
              <a:rPr lang="en-IN" sz="2400" dirty="0"/>
              <a:t> and </a:t>
            </a:r>
            <a:r>
              <a:rPr lang="en-IN" sz="2400" dirty="0" err="1"/>
              <a:t>Analyzing</a:t>
            </a:r>
            <a:r>
              <a:rPr lang="en-IN" sz="2400" dirty="0"/>
              <a:t> Urban Networks and Amenities with </a:t>
            </a:r>
            <a:r>
              <a:rPr lang="en-IN" sz="2400" dirty="0" err="1"/>
              <a:t>OSMnx</a:t>
            </a:r>
            <a:r>
              <a:rPr lang="en-IN" sz="2400" dirty="0"/>
              <a:t>,” </a:t>
            </a:r>
            <a:r>
              <a:rPr lang="en-IN" sz="2400" i="1" dirty="0"/>
              <a:t>Geographical Analysis</a:t>
            </a:r>
            <a:r>
              <a:rPr lang="en-IN" sz="2400" dirty="0"/>
              <a:t>, 2025.</a:t>
            </a:r>
          </a:p>
          <a:p>
            <a:r>
              <a:rPr lang="en-IN" sz="2400" dirty="0"/>
              <a:t>[6] OpenStreetMap, “Map Data and Copyright.” </a:t>
            </a:r>
            <a:r>
              <a:rPr lang="en-IN" sz="2400" dirty="0">
                <a:hlinkClick r:id="rId2"/>
              </a:rPr>
              <a:t>https://www.openstreetmap.org/copyright</a:t>
            </a:r>
            <a:endParaRPr lang="en-IN" sz="24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69111-45EC-F79C-83D8-24A7F719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6D31E-BFB6-3A40-1AE2-6FCF469B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3C317-8D3B-9001-DF7C-185571B6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569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1310</Words>
  <Application>Microsoft Office PowerPoint</Application>
  <PresentationFormat>Widescreen</PresentationFormat>
  <Paragraphs>169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deva dharashani</cp:lastModifiedBy>
  <cp:revision>17</cp:revision>
  <dcterms:modified xsi:type="dcterms:W3CDTF">2026-10-14T10:32:28Z</dcterms:modified>
</cp:coreProperties>
</file>